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12192000"/>
  <p:defaultTextStyle>
    <a:defPPr>
      <a:defRPr lang="en-US"/>
    </a:defPPr>
  </p:defaultTextStyle>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Flagship Pioneering, Director of Medicinal Chemistry, April 2026 to present. Computational chemistry lead for ternary-complex formation and conformational analysis of heterobifunctionals, tying binding kinetics to on-mechanism pharmacodynamics. CRO synthesis efficiency raised tenfold, 0.6 to 5.5 compounds per FTE per week, through a mix of hands-on management and automated heterobifunctional library synthesis.</a:t>
            </a:r>
          </a:p>
          <a:p>
            <a:r>
              <a:rPr lang="en-US" sz="1200"/>
              <a:t xml:space="preserve"/>
            </a:r>
          </a:p>
          <a:p>
            <a:r>
              <a:rPr lang="en-US" sz="1200"/>
              <a:t xml:space="preserve">Teams: four CRO synthesis groups and more than fifty chemists at C4, across FTE, fee-for-service and library-synthesis models. Mentoring is the part that compounds — the people who stay are the ones who were taught how the decisions get made, not just what was decided.</a:t>
            </a:r>
          </a:p>
          <a:p>
            <a:r>
              <a:rPr lang="en-US" sz="1200"/>
              <a:t xml:space="preserve"/>
            </a:r>
          </a:p>
          <a:p>
            <a:r>
              <a:rPr lang="en-US" sz="1200"/>
              <a:t xml:space="preserve">Aleksia Therapeutics, 2022 to 2025, Senior Research Scientist to Associate Director. Chemistry lead on a kinase inhibitor programme: BCS Class I compounds to near development candidate in twelve months, a time-dependent CYP inhibition liability resolved by metabolite identification, spray-dried dispersion formulation. Covalent fragment libraries and mass-spectrometry fragment screening.</a:t>
            </a:r>
          </a:p>
          <a:p>
            <a:r>
              <a:rPr lang="en-US" sz="1200"/>
              <a:t xml:space="preserve"/>
            </a:r>
          </a:p>
          <a:p>
            <a:r>
              <a:rPr lang="en-US" sz="1200"/>
              <a:t xml:space="preserve">C4 Therapeutics, 2016 to 2022. Chemistry lead on two concurrent PROTAC campaigns and, earlier, on a bromodomain degrader campaign that produced highly selective compounds. Nominated a PROTAC development candidate suitable for twice-daily oral dosing. Demonstrated CNS proof of concept for degradation in an intracranial tumour PDX model. Managed four CRO synthesis teams, more than fifty chemists.</a:t>
            </a:r>
          </a:p>
          <a:p>
            <a:r>
              <a:rPr lang="en-US" sz="1200"/>
              <a:t xml:space="preserve"/>
            </a:r>
          </a:p>
          <a:p>
            <a:r>
              <a:rPr lang="en-US" sz="1200"/>
              <a:t xml:space="preserve">Broad Institute, 2015 to 2016, chemistry lead on a covalent oncology inhibitor. Northwestern PhD in organic chemistry with Thomson; NIH postdoctoral fellow with Porco at Boston University; F32 NRSA and T32 awards.</a:t>
            </a:r>
          </a:p>
          <a:p>
            <a:r>
              <a:rPr lang="en-US" sz="1200"/>
              <a:t xml:space="preserve"/>
            </a:r>
          </a:p>
          <a:p>
            <a:r>
              <a:rPr lang="en-US" sz="1200"/>
              <a:t xml:space="preserve">Selected publications: the RET degrader paper used here as Task 1; selective covalent targeting of GPX4, Nature Chemical Biology 2020.</a:t>
            </a:r>
          </a:p>
        </p:txBody>
      </p:sp>
      <p:sp>
        <p:nvSpPr>
          <p:cNvPr id="3" name="Slide Number Placeholder"/>
          <p:cNvSpPr>
            <a:spLocks noGrp="1"/>
          </p:cNvSpPr>
          <p:nvPr>
            <p:ph type="sldNum" sz="quarter" idx="10"/>
          </p:nvPr>
        </p:nvSpPr>
        <p:spPr/>
        <p:txBody>
          <a:bodyPr/>
          <a:lstStyle/>
          <a:p>
            <a:fld id="{B9E8A9A1-0000-0000-0000-000000000001}" type="slidenum">
              <a:rPr lang="en-US" sz="1200"/>
              <a:t>1</a:t>
            </a:fld>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Task 1 asks for a favourite past public project, revisited: roughly ten minutes on the original work and the remainder on how the landscape has changed and what would be done differently.</a:t>
            </a:r>
          </a:p>
          <a:p>
            <a:r>
              <a:rPr lang="en-US" sz="1200"/>
              <a:t xml:space="preserve"/>
            </a:r>
          </a:p>
          <a:p>
            <a:r>
              <a:rPr lang="en-US" sz="1200"/>
              <a:t xml:space="preserve">Task 2 asks for a project plan against a target in a disease with unmet need, showing the criteria used, the targets eliminated, which proximity modalities fit, how known ligands would be progressed or new ones found, and the path to the clinic with its key assays.</a:t>
            </a:r>
          </a:p>
          <a:p>
            <a:r>
              <a:rPr lang="en-US" sz="1200"/>
              <a:t xml:space="preserve"/>
            </a:r>
          </a:p>
          <a:p>
            <a:r>
              <a:rPr lang="en-US" sz="1200"/>
              <a:t xml:space="preserve">Both are scoped at twenty to thirty minutes with time for questions. The stated evaluation criteria are leadership, creativity, judgement, agency, work ethic and execution.</a:t>
            </a:r>
          </a:p>
          <a:p>
            <a:r>
              <a:rPr lang="en-US" sz="1200"/>
              <a:t xml:space="preserve"/>
            </a:r>
          </a:p>
          <a:p>
            <a:r>
              <a:rPr lang="en-US" sz="1200"/>
              <a:t xml:space="preserve">Disease areas chosen for Task 2: immunology, inflammation and cardiometabolic disease. Oncology was set aside deliberately — it is where degrader precedent is concentrated and where target nomination is easiest, so it tests the tools least.</a:t>
            </a:r>
          </a:p>
          <a:p>
            <a:r>
              <a:rPr lang="en-US" sz="1200"/>
              <a:t xml:space="preserve"/>
            </a:r>
          </a:p>
          <a:p>
            <a:r>
              <a:rPr lang="en-US" sz="1200"/>
              <a:t xml:space="preserve">Everything shown from the RET programme is in the published paper. One slide from the original talk is omitted here because it is marked confidential.</a:t>
            </a:r>
          </a:p>
        </p:txBody>
      </p:sp>
      <p:sp>
        <p:nvSpPr>
          <p:cNvPr id="3" name="Slide Number Placeholder"/>
          <p:cNvSpPr>
            <a:spLocks noGrp="1"/>
          </p:cNvSpPr>
          <p:nvPr>
            <p:ph type="sldNum" sz="quarter" idx="10"/>
          </p:nvPr>
        </p:nvSpPr>
        <p:spPr/>
        <p:txBody>
          <a:bodyPr/>
          <a:lstStyle/>
          <a:p>
            <a:fld id="{B9E8A9A1-0000-0000-0000-000000000001}" type="slidenum">
              <a:rPr lang="en-US" sz="1200"/>
              <a:t>2</a:t>
            </a:fld>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Kinase anatomy: the N-lobe is mostly beta sheet with the glycine-rich P-loop over the ATP site; the C-lobe is mostly helical and carries the substrate-binding surface. The hinge connects them and lines the adenine pocket, which is why almost every ATP-competitive inhibitor hydrogen bonds to it.</a:t>
            </a:r>
          </a:p>
          <a:p>
            <a:r>
              <a:rPr lang="en-US" sz="1200"/>
              <a:t xml:space="preserve"/>
            </a:r>
          </a:p>
          <a:p>
            <a:r>
              <a:rPr lang="en-US" sz="1200"/>
              <a:t xml:space="preserve">The P-loop, the C-helix and the activation loop are the regulatory elements. They change conformation between active and inactive states and during substrate turnover.</a:t>
            </a:r>
          </a:p>
          <a:p>
            <a:r>
              <a:rPr lang="en-US" sz="1200"/>
              <a:t xml:space="preserve"/>
            </a:r>
          </a:p>
          <a:p>
            <a:r>
              <a:rPr lang="en-US" sz="1200"/>
              <a:t xml:space="preserve">A heterobifunctional has to place a second protein across that surface. A vector leaving beside the hinge reaches solvent in the fewest atoms and passes nothing that moves. A vector leaving distal to the hinge has to traverse the activation loop.</a:t>
            </a:r>
          </a:p>
          <a:p>
            <a:r>
              <a:rPr lang="en-US" sz="1200"/>
              <a:t xml:space="preserve"/>
            </a:r>
          </a:p>
          <a:p>
            <a:r>
              <a:rPr lang="en-US" sz="1200"/>
              <a:t xml:space="preserve">The cost of a linker is paid twice: in binary affinity, because the attachment perturbs the bound conformation, and in the rate of ternary complex formation, because the second protein has to find a productive orientation.</a:t>
            </a:r>
          </a:p>
          <a:p>
            <a:r>
              <a:rPr lang="en-US" sz="1200"/>
              <a:t xml:space="preserve"/>
            </a:r>
          </a:p>
          <a:p>
            <a:r>
              <a:rPr lang="en-US" sz="1200"/>
              <a:t xml:space="preserve">This analysis needs no ternary complex model. It needs the monovalent co-crystal and a reading of which parts of the fold are dynamic.</a:t>
            </a:r>
          </a:p>
        </p:txBody>
      </p:sp>
      <p:sp>
        <p:nvSpPr>
          <p:cNvPr id="3" name="Slide Number Placeholder"/>
          <p:cNvSpPr>
            <a:spLocks noGrp="1"/>
          </p:cNvSpPr>
          <p:nvPr>
            <p:ph type="sldNum" sz="quarter" idx="10"/>
          </p:nvPr>
        </p:nvSpPr>
        <p:spPr/>
        <p:txBody>
          <a:bodyPr/>
          <a:lstStyle/>
          <a:p>
            <a:fld id="{B9E8A9A1-0000-0000-0000-000000000001}" type="slidenum">
              <a:rPr lang="en-US" sz="1200"/>
              <a:t>3</a:t>
            </a:fld>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Left: the monovalent ligand viewed from the side, with the two candidate attachment points marked. The proximal vector exits beside the hinge; the distal vector exits on the far side of the pocket.</a:t>
            </a:r>
          </a:p>
          <a:p>
            <a:r>
              <a:rPr lang="en-US" sz="1200"/>
              <a:t xml:space="preserve"/>
            </a:r>
          </a:p>
          <a:p>
            <a:r>
              <a:rPr lang="en-US" sz="1200"/>
              <a:t xml:space="preserve">Right: the ternary complex model viewed down onto the interface. Target kinase above, E3 ligase below, degrader between them. The two arrows mark where each linker would have to emerge.</a:t>
            </a:r>
          </a:p>
          <a:p>
            <a:r>
              <a:rPr lang="en-US" sz="1200"/>
              <a:t xml:space="preserve"/>
            </a:r>
          </a:p>
          <a:p>
            <a:r>
              <a:rPr lang="en-US" sz="1200"/>
              <a:t xml:space="preserve">The model was built with structural biology and computational chemistry colleagues rather than taken from a single docking run. It is a hypothesis about relative orientation, not a structure.</a:t>
            </a:r>
          </a:p>
          <a:p>
            <a:r>
              <a:rPr lang="en-US" sz="1200"/>
              <a:t xml:space="preserve"/>
            </a:r>
          </a:p>
          <a:p>
            <a:r>
              <a:rPr lang="en-US" sz="1200"/>
              <a:t xml:space="preserve">What the picture makes concrete: the distal vector has to span a longer path and cross a loop whose position depends on the activation state of the kinase, so the same compound sees a different surface in different states.</a:t>
            </a:r>
          </a:p>
        </p:txBody>
      </p:sp>
      <p:sp>
        <p:nvSpPr>
          <p:cNvPr id="3" name="Slide Number Placeholder"/>
          <p:cNvSpPr>
            <a:spLocks noGrp="1"/>
          </p:cNvSpPr>
          <p:nvPr>
            <p:ph type="sldNum" sz="quarter" idx="10"/>
          </p:nvPr>
        </p:nvSpPr>
        <p:spPr/>
        <p:txBody>
          <a:bodyPr/>
          <a:lstStyle/>
          <a:p>
            <a:fld id="{B9E8A9A1-0000-0000-0000-000000000001}" type="slidenum">
              <a:rPr lang="en-US" sz="1200"/>
              <a:t>4</a:t>
            </a:fld>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RET is activated by point mutation and by chromosomal fusion. A degrader removes the protein rather than blocking the site, so in principle it covers both without a separate molecule per mutant.</a:t>
            </a:r>
          </a:p>
          <a:p>
            <a:r>
              <a:rPr lang="en-US" sz="1200"/>
              <a:t xml:space="preserve"/>
            </a:r>
          </a:p>
          <a:p>
            <a:r>
              <a:rPr lang="en-US" sz="1200"/>
              <a:t xml:space="preserve">Selpercatinib retains single-digit nanomolar potency against the gatekeeper and C-lobe mutants at ATP equal to Kₘ. At 30 µM ATP, closer to the intracellular concentration, G810R costs roughly forty-fold.</a:t>
            </a:r>
          </a:p>
          <a:p>
            <a:r>
              <a:rPr lang="en-US" sz="1200"/>
              <a:t xml:space="preserve"/>
            </a:r>
          </a:p>
          <a:p>
            <a:r>
              <a:rPr lang="en-US" sz="1200"/>
              <a:t xml:space="preserve">G810R is the solvent-front mutation. It sits where the inhibitor exits the pocket, which is the same place the linker would attach — so it is simultaneously the differentiating opportunity and the hardest constraint on the chemistry.</a:t>
            </a:r>
          </a:p>
          <a:p>
            <a:r>
              <a:rPr lang="en-US" sz="1200"/>
              <a:t xml:space="preserve"/>
            </a:r>
          </a:p>
          <a:p>
            <a:r>
              <a:rPr lang="en-US" sz="1200"/>
              <a:t xml:space="preserve">Choosing it was a cross-functional decision, not a chemistry decision. The mutant with the clearest commercial differentiation was also the one most likely to break the design.</a:t>
            </a:r>
          </a:p>
          <a:p>
            <a:r>
              <a:rPr lang="en-US" sz="1200"/>
              <a:t xml:space="preserve"/>
            </a:r>
          </a:p>
          <a:p>
            <a:r>
              <a:rPr lang="en-US" sz="1200"/>
              <a:t xml:space="preserve">Kₘ values are quoted from the same source: V804L 0.07 µM, V804M 0.44 µM, M918T 0.45 µM. M918T is constitutively active.</a:t>
            </a:r>
          </a:p>
        </p:txBody>
      </p:sp>
      <p:sp>
        <p:nvSpPr>
          <p:cNvPr id="3" name="Slide Number Placeholder"/>
          <p:cNvSpPr>
            <a:spLocks noGrp="1"/>
          </p:cNvSpPr>
          <p:nvPr>
            <p:ph type="sldNum" sz="quarter" idx="10"/>
          </p:nvPr>
        </p:nvSpPr>
        <p:spPr/>
        <p:txBody>
          <a:bodyPr/>
          <a:lstStyle/>
          <a:p>
            <a:fld id="{B9E8A9A1-0000-0000-0000-000000000001}" type="slidenum">
              <a:rPr lang="en-US" sz="1200"/>
              <a:t>5</a:t>
            </a:fld>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Measured in a RET G810R HiBiT degradation assay. DC₅₀ is the concentration giving half-maximal degradation; Emax here is the protein remaining at the maximum effect, so a lower number is deeper degradation. IP is reported as in the source.</a:t>
            </a:r>
          </a:p>
          <a:p>
            <a:r>
              <a:rPr lang="en-US" sz="1200"/>
              <a:t xml:space="preserve"/>
            </a:r>
          </a:p>
          <a:p>
            <a:r>
              <a:rPr lang="en-US" sz="1200"/>
              <a:t xml:space="preserve">The distal compound returned no measurable DC₅₀ and 61% protein remaining. The proximal compound degraded with a 21 nM DC₅₀ to 24% remaining.</a:t>
            </a:r>
          </a:p>
          <a:p>
            <a:r>
              <a:rPr lang="en-US" sz="1200"/>
              <a:t xml:space="preserve"/>
            </a:r>
          </a:p>
          <a:p>
            <a:r>
              <a:rPr lang="en-US" sz="1200"/>
              <a:t xml:space="preserve">The two molecules share the warhead, the cereblon ligand and the linker chemistry. The difference is where the linker attaches to the kinase.</a:t>
            </a:r>
          </a:p>
          <a:p>
            <a:r>
              <a:rPr lang="en-US" sz="1200"/>
              <a:t xml:space="preserve"/>
            </a:r>
          </a:p>
          <a:p>
            <a:r>
              <a:rPr lang="en-US" sz="1200"/>
              <a:t xml:space="preserve">This is one series and one target, so it is evidence rather than proof. What it supports is the ordering: exit vector choice before linker optimisation, because no amount of linker work rescued the distal vector.</a:t>
            </a:r>
          </a:p>
          <a:p>
            <a:r>
              <a:rPr lang="en-US" sz="1200"/>
              <a:t xml:space="preserve"/>
            </a:r>
          </a:p>
          <a:p>
            <a:r>
              <a:rPr lang="en-US" sz="1200"/>
              <a:t xml:space="preserve">The practical consequence is that the first synthetic decision is also the most consequential, and it can be made from the monovalent structure alone.</a:t>
            </a:r>
          </a:p>
        </p:txBody>
      </p:sp>
      <p:sp>
        <p:nvSpPr>
          <p:cNvPr id="3" name="Slide Number Placeholder"/>
          <p:cNvSpPr>
            <a:spLocks noGrp="1"/>
          </p:cNvSpPr>
          <p:nvPr>
            <p:ph type="sldNum" sz="quarter" idx="10"/>
          </p:nvPr>
        </p:nvSpPr>
        <p:spPr/>
        <p:txBody>
          <a:bodyPr/>
          <a:lstStyle/>
          <a:p>
            <a:fld id="{B9E8A9A1-0000-0000-0000-000000000001}" type="slidenum">
              <a:rPr lang="en-US" sz="1200"/>
              <a:t>6</a:t>
            </a:fld>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Compound 15 is the starting point of the published series: 5 nM DC₅₀ on the RET kinase domain to 23% remaining, 103 nM on G810R to 37%, and 43.6 nM inhibition of wild-type RET.</a:t>
            </a:r>
          </a:p>
          <a:p>
            <a:r>
              <a:rPr lang="en-US" sz="1200"/>
              <a:t xml:space="preserve"/>
            </a:r>
          </a:p>
          <a:p>
            <a:r>
              <a:rPr lang="en-US" sz="1200"/>
              <a:t xml:space="preserve">The problem is exposure. No measured clearance, no oral AUC, no bioavailability — the molecule does not survive to be dosed.</a:t>
            </a:r>
          </a:p>
          <a:p>
            <a:r>
              <a:rPr lang="en-US" sz="1200"/>
              <a:t xml:space="preserve"/>
            </a:r>
          </a:p>
          <a:p>
            <a:r>
              <a:rPr lang="en-US" sz="1200"/>
              <a:t xml:space="preserve">VEGFR2 matters because it shares high homology with RET in the ATP site. Inhibiting it produces hypertension and proteinuria, so selectivity against it is a profile requirement rather than a nicety. pVEGFR2 is the cellular readout.</a:t>
            </a:r>
          </a:p>
          <a:p>
            <a:r>
              <a:rPr lang="en-US" sz="1200"/>
              <a:t xml:space="preserve"/>
            </a:r>
          </a:p>
          <a:p>
            <a:r>
              <a:rPr lang="en-US" sz="1200"/>
              <a:t xml:space="preserve">The table grows across the next three slides. Reading it left to right: degradation of the kinase domain, degradation of the G810R mutant, inhibition of wild-type RET, the cellular anti-target, then clearance, oral exposure and bioavailability.</a:t>
            </a:r>
          </a:p>
          <a:p>
            <a:r>
              <a:rPr lang="en-US" sz="1200"/>
              <a:t xml:space="preserve"/>
            </a:r>
          </a:p>
          <a:p>
            <a:r>
              <a:rPr lang="en-US" sz="1200"/>
              <a:t xml:space="preserve">Everything that follows is linker and property work against a fixed warhead and a fixed ligase ligand.</a:t>
            </a:r>
          </a:p>
        </p:txBody>
      </p:sp>
      <p:sp>
        <p:nvSpPr>
          <p:cNvPr id="3" name="Slide Number Placeholder"/>
          <p:cNvSpPr>
            <a:spLocks noGrp="1"/>
          </p:cNvSpPr>
          <p:nvPr>
            <p:ph type="sldNum" sz="quarter" idx="10"/>
          </p:nvPr>
        </p:nvSpPr>
        <p:spPr/>
        <p:txBody>
          <a:bodyPr/>
          <a:lstStyle/>
          <a:p>
            <a:fld id="{B9E8A9A1-0000-0000-0000-000000000001}" type="slidenum">
              <a:rPr lang="en-US" sz="1200"/>
              <a:t>7</a:t>
            </a:fld>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Compound 16 changes the angle at which the linker leaves the warhead, from roughly 180° to 144°. Degradation of the kinase domain improves from 5 nM to 1.9 nM and G810R from 103 nM to 24 nM. The improvement tracks binary binding affinity, which is the mechanism the ternary complex model predicted.</a:t>
            </a:r>
          </a:p>
          <a:p>
            <a:r>
              <a:rPr lang="en-US" sz="1200"/>
              <a:t xml:space="preserve"/>
            </a:r>
          </a:p>
          <a:p>
            <a:r>
              <a:rPr lang="en-US" sz="1200"/>
              <a:t xml:space="preserve">Compound 16 is still not an oral molecule: clearance 31 mL/min/kg, oral AUC 8.09 ng·h/mL, bioavailability 0.88%.</a:t>
            </a:r>
          </a:p>
          <a:p>
            <a:r>
              <a:rPr lang="en-US" sz="1200"/>
              <a:t xml:space="preserve"/>
            </a:r>
          </a:p>
          <a:p>
            <a:r>
              <a:rPr lang="en-US" sz="1200"/>
              <a:t xml:space="preserve">Compound 17 reduces the basicity of the linker amine and lowers solvent-accessible surface area. Clearance falls to 16, oral AUC rises to 181, bioavailability to 18%. Potency is unchanged.</a:t>
            </a:r>
          </a:p>
          <a:p>
            <a:r>
              <a:rPr lang="en-US" sz="1200"/>
              <a:t xml:space="preserve"/>
            </a:r>
          </a:p>
          <a:p>
            <a:r>
              <a:rPr lang="en-US" sz="1200"/>
              <a:t xml:space="preserve">Basicity drives clearance in this series through the usual routes: higher volume of distribution and more metabolic turnover. Reducing it is a property decision that does not touch either binding element.</a:t>
            </a:r>
          </a:p>
          <a:p>
            <a:r>
              <a:rPr lang="en-US" sz="1200"/>
              <a:t xml:space="preserve"/>
            </a:r>
          </a:p>
          <a:p>
            <a:r>
              <a:rPr lang="en-US" sz="1200"/>
              <a:t xml:space="preserve">The pVEGFR2 margin narrows from 1162 nM to 671 nM across the same change, which is the cost side of the ledger.</a:t>
            </a:r>
          </a:p>
        </p:txBody>
      </p:sp>
      <p:sp>
        <p:nvSpPr>
          <p:cNvPr id="3" name="Slide Number Placeholder"/>
          <p:cNvSpPr>
            <a:spLocks noGrp="1"/>
          </p:cNvSpPr>
          <p:nvPr>
            <p:ph type="sldNum" sz="quarter" idx="10"/>
          </p:nvPr>
        </p:nvSpPr>
        <p:spPr/>
        <p:txBody>
          <a:bodyPr/>
          <a:lstStyle/>
          <a:p>
            <a:fld id="{B9E8A9A1-0000-0000-0000-000000000001}" type="slidenum">
              <a:rPr lang="en-US" sz="1200"/>
              <a:t>8</a:t>
            </a:fld>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Each point is a conformer from a molecular dynamics ensemble. The vertical axis is solvent-accessible surface area; the horizontal axis is relative potential energy under OPLS.</a:t>
            </a:r>
          </a:p>
          <a:p>
            <a:r>
              <a:rPr lang="en-US" sz="1200"/>
              <a:t xml:space="preserve"/>
            </a:r>
          </a:p>
          <a:p>
            <a:r>
              <a:rPr lang="en-US" sz="1200"/>
              <a:t xml:space="preserve">Compound 16 populates a narrow high-SASA band. Compound 17 populates a second, lower band at comparable energy — conformations in which the molecule folds against itself and buries polar surface, typically through intramolecular hydrogen bonds.</a:t>
            </a:r>
          </a:p>
          <a:p>
            <a:r>
              <a:rPr lang="en-US" sz="1200"/>
              <a:t xml:space="preserve"/>
            </a:r>
          </a:p>
          <a:p>
            <a:r>
              <a:rPr lang="en-US" sz="1200"/>
              <a:t xml:space="preserve">That behaviour is chameleonicity: a molecule that presents polar surface in water and hides it in membrane. It is the standard explanation for oral absorption in compounds that sit outside the Rule of 5, which every heterobifunctional does.</a:t>
            </a:r>
          </a:p>
          <a:p>
            <a:r>
              <a:rPr lang="en-US" sz="1200"/>
              <a:t xml:space="preserve"/>
            </a:r>
          </a:p>
          <a:p>
            <a:r>
              <a:rPr lang="en-US" sz="1200"/>
              <a:t xml:space="preserve">The prediction and the measurement agree here: compound 17 has the collapsed population and the higher permeability and bioavailability. One series, so it is consistent rather than validated.</a:t>
            </a:r>
          </a:p>
          <a:p>
            <a:r>
              <a:rPr lang="en-US" sz="1200"/>
              <a:t xml:space="preserve"/>
            </a:r>
          </a:p>
          <a:p>
            <a:r>
              <a:rPr lang="en-US" sz="1200"/>
              <a:t xml:space="preserve">Practically this is a cheap calculation to run before synthesis, and it discriminates between linkers that look equivalent on paper.</a:t>
            </a:r>
          </a:p>
        </p:txBody>
      </p:sp>
      <p:sp>
        <p:nvSpPr>
          <p:cNvPr id="3" name="Slide Number Placeholder"/>
          <p:cNvSpPr>
            <a:spLocks noGrp="1"/>
          </p:cNvSpPr>
          <p:nvPr>
            <p:ph type="sldNum" sz="quarter" idx="10"/>
          </p:nvPr>
        </p:nvSpPr>
        <p:spPr/>
        <p:txBody>
          <a:bodyPr/>
          <a:lstStyle/>
          <a:p>
            <a:fld id="{B9E8A9A1-0000-0000-0000-000000000001}" type="slidenum">
              <a:rPr lang="en-US" sz="1200"/>
              <a:t>9</a:t>
            </a:fld>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Compound 18 removes further polar surface area. Permeability and oral exposure improve again — AUC 601 ng·h/mL, bioavailability 53% — but the pVEGFR2 margin falls to 660 nM, which is too close to the RET potency to carry forward.</a:t>
            </a:r>
          </a:p>
          <a:p>
            <a:r>
              <a:rPr lang="en-US" sz="1200"/>
              <a:t xml:space="preserve"/>
            </a:r>
          </a:p>
          <a:p>
            <a:r>
              <a:rPr lang="en-US" sz="1200"/>
              <a:t xml:space="preserve">Compound 19 rigidifies part of the linker and recovers the margin to beyond 2670 nM, at 23% bioavailability.</a:t>
            </a:r>
          </a:p>
          <a:p>
            <a:r>
              <a:rPr lang="en-US" sz="1200"/>
              <a:t xml:space="preserve"/>
            </a:r>
          </a:p>
          <a:p>
            <a:r>
              <a:rPr lang="en-US" sz="1200"/>
              <a:t xml:space="preserve">Compound 20 is the balance point: 1.7 nM on the kinase domain to 8% remaining, 21 nM on G810R, a pVEGFR2 margin of 5141 nM, clearance 18 mL/min/kg and 39% oral bioavailability.</a:t>
            </a:r>
          </a:p>
          <a:p>
            <a:r>
              <a:rPr lang="en-US" sz="1200"/>
              <a:t xml:space="preserve"/>
            </a:r>
          </a:p>
          <a:p>
            <a:r>
              <a:rPr lang="en-US" sz="1200"/>
              <a:t xml:space="preserve">The pattern across six compounds: potency was fixed early by the exit vector; everything after it traded exposure against anti-target selectivity, and rigidity was the lever that moved them in the same direction.</a:t>
            </a:r>
          </a:p>
          <a:p>
            <a:r>
              <a:rPr lang="en-US" sz="1200"/>
              <a:t xml:space="preserve"/>
            </a:r>
          </a:p>
          <a:p>
            <a:r>
              <a:rPr lang="en-US" sz="1200"/>
              <a:t xml:space="preserve">One slide from the original talk is not reproduced here. It carries the CNS exposure and intracranial PDX pharmacodynamic data for compounds 17 and 20 and is marked confidential; it can be added if cleared. The result it reports is that brain concentrations after dosing were sufficient for efficient degradation in that model.</a:t>
            </a:r>
          </a:p>
        </p:txBody>
      </p:sp>
      <p:sp>
        <p:nvSpPr>
          <p:cNvPr id="3" name="Slide Number Placeholder"/>
          <p:cNvSpPr>
            <a:spLocks noGrp="1"/>
          </p:cNvSpPr>
          <p:nvPr>
            <p:ph type="sldNum" sz="quarter" idx="10"/>
          </p:nvPr>
        </p:nvSpPr>
        <p:spPr/>
        <p:txBody>
          <a:bodyPr/>
          <a:lstStyle/>
          <a:p>
            <a:fld id="{B9E8A9A1-0000-0000-0000-000000000001}" type="slidenum">
              <a:rPr lang="en-US" sz="1200"/>
              <a:t>10</a:t>
            </a:fld>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The three decisions in order of consequence. The mutant choice set the target product profile and could not be revisited cheaply. The exit vector choice set the achievable potency and was made from a monovalent co-crystal. The property work set whether the molecule could be dosed at all.</a:t>
            </a:r>
          </a:p>
          <a:p>
            <a:r>
              <a:rPr lang="en-US" sz="1200"/>
              <a:t xml:space="preserve"/>
            </a:r>
          </a:p>
          <a:p>
            <a:r>
              <a:rPr lang="en-US" sz="1200"/>
              <a:t xml:space="preserve">All three were taken with the structures and the literature available at the time, in meetings across structural biology, computational chemistry, biochemistry, translational biology and pharmacology.</a:t>
            </a:r>
          </a:p>
          <a:p>
            <a:r>
              <a:rPr lang="en-US" sz="1200"/>
              <a:t xml:space="preserve"/>
            </a:r>
          </a:p>
          <a:p>
            <a:r>
              <a:rPr lang="en-US" sz="1200"/>
              <a:t xml:space="preserve">What would be done differently now is not a different conclusion. It is the same analysis made earlier, cheaper and against more candidates: exit vector accessibility computed from structure rather than argued, conformational collapse screened before synthesis rather than after a bioavailability surprise, and the ligase treated as a variable rather than assumed.</a:t>
            </a:r>
          </a:p>
          <a:p>
            <a:r>
              <a:rPr lang="en-US" sz="1200"/>
              <a:t xml:space="preserve"/>
            </a:r>
          </a:p>
          <a:p>
            <a:r>
              <a:rPr lang="en-US" sz="1200"/>
              <a:t xml:space="preserve">That is what the four tools in the next section do.</a:t>
            </a:r>
          </a:p>
        </p:txBody>
      </p:sp>
      <p:sp>
        <p:nvSpPr>
          <p:cNvPr id="3" name="Slide Number Placeholder"/>
          <p:cNvSpPr>
            <a:spLocks noGrp="1"/>
          </p:cNvSpPr>
          <p:nvPr>
            <p:ph type="sldNum" sz="quarter" idx="10"/>
          </p:nvPr>
        </p:nvSpPr>
        <p:spPr/>
        <p:txBody>
          <a:bodyPr/>
          <a:lstStyle/>
          <a:p>
            <a:fld id="{B9E8A9A1-0000-0000-0000-000000000001}" type="slidenum">
              <a:rPr lang="en-US" sz="1200"/>
              <a:t>11</a:t>
            </a:fld>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Choosing the ligase is not a separate tool. The same page already holds the expression data and the structures for both partners, so it ranks the pair rather than the target alone.</a:t>
            </a:r>
          </a:p>
          <a:p>
            <a:r>
              <a:rPr lang="en-US" sz="1200"/>
              <a:t xml:space="preserve"/>
            </a:r>
          </a:p>
          <a:p>
            <a:r>
              <a:rPr lang="en-US" sz="1200"/>
              <a:t xml:space="preserve">Four entry filters: selectivity-limited, ligand-silent, scaffolding-dependent, compensation-prone.</a:t>
            </a:r>
          </a:p>
          <a:p>
            <a:r>
              <a:rPr lang="en-US" sz="1200"/>
              <a:t xml:space="preserve"/>
            </a:r>
          </a:p>
          <a:p>
            <a:r>
              <a:rPr lang="en-US" sz="1200"/>
              <a:t xml:space="preserve">Evidence is tiered. Clinical failure plus genetic validation is the strongest tier; structural PPI evidence the weakest.</a:t>
            </a:r>
          </a:p>
          <a:p>
            <a:r>
              <a:rPr lang="en-US" sz="1200"/>
              <a:t xml:space="preserve"/>
            </a:r>
          </a:p>
          <a:p>
            <a:r>
              <a:rPr lang="en-US" sz="1200"/>
              <a:t xml:space="preserve">Scaffolding test is “knockout better than inhibitor”, not “knockout differs from inhibitor”. RIPK1 fails it: kinase-dead mice do better than knockouts, so its scaffold is protective.</a:t>
            </a:r>
          </a:p>
          <a:p>
            <a:r>
              <a:rPr lang="en-US" sz="1200"/>
              <a:t xml:space="preserve"/>
            </a:r>
          </a:p>
          <a:p>
            <a:r>
              <a:rPr lang="en-US" sz="1200"/>
              <a:t xml:space="preserve">Calibration set: 37 cases labelled on two axes, target validity and modality fit. Positives include STAT6, IRF5, VAV1, PNPLA3 I148M, HSD17B13. Modality rejects: IL-23, PCSK9, APOC3, ANGPTL3 (secreted), CD20 (surface). Validity traps: p38 in RA, PPARα in MASH. Minimum eight positives and eight negatives per disease area.</a:t>
            </a:r>
          </a:p>
          <a:p>
            <a:r>
              <a:rPr lang="en-US" sz="1200"/>
              <a:t xml:space="preserve"/>
            </a:r>
          </a:p>
          <a:p>
            <a:r>
              <a:rPr lang="en-US" sz="1200"/>
              <a:t xml:space="preserve">Disease-area weights are a parameter. Cardiometabolic has protective loss-of-function variants; I&amp;I largely does not.</a:t>
            </a:r>
          </a:p>
          <a:p>
            <a:r>
              <a:rPr lang="en-US" sz="1200"/>
              <a:t xml:space="preserve"/>
            </a:r>
          </a:p>
          <a:p>
            <a:r>
              <a:rPr lang="en-US" sz="1200"/>
              <a:t xml:space="preserve">Delivery gate is tiered: oral systemic by default, hepatic via first-pass and ASGPR, local for inhaled, gut-restricted and intra-articular.</a:t>
            </a:r>
          </a:p>
          <a:p>
            <a:r>
              <a:rPr lang="en-US" sz="1200"/>
              <a:t xml:space="preserve"/>
            </a:r>
          </a:p>
          <a:p>
            <a:r>
              <a:rPr lang="en-US" sz="1200"/>
              <a:t xml:space="preserve">Ligase side. Of the eight clinical PROTACs with disclosed structures, seven are CRBN-based and oral and the eighth is intravenous. E3 identity is undisclosed for nearly every non-oncology clinical degrader, so the prior is strong and the scan has to beat it.</a:t>
            </a:r>
          </a:p>
          <a:p>
            <a:r>
              <a:rPr lang="en-US" sz="1200"/>
              <a:t xml:space="preserve"/>
            </a:r>
          </a:p>
          <a:p>
            <a:r>
              <a:rPr lang="en-US" sz="1200"/>
              <a:t xml:space="preserve">The structural half is the weakest part of the stack and is reported as such. The scan lands a partner across 600 orientations on a ligand pocket face, about three seconds per pair, scored on buried area, pocket involvement and strained interfacial contacts. Benchmarked against 35 deposited ternary complexes with the warhead and linker truncated away so the answer could not leak in, plus a decoy-pocket null: 0 of 20 near-native poses in the top ten, median best-of-ten 18.7 Å at the true pocket against 64.4 Å at the decoy. A sampling bug was found and fixed and did not change the outcome. The native partner sits a median 9.7 Å off the pocket-normal axis; the heuristic sampled ±4 Å; widening to ±21 Å made both pockets worse. So any strained-contact score computed on those poses is measured on a complex roughly 19 Å from truth.</a:t>
            </a:r>
          </a:p>
          <a:p>
            <a:r>
              <a:rPr lang="en-US" sz="1200"/>
              <a:t xml:space="preserve"/>
            </a:r>
          </a:p>
          <a:p>
            <a:r>
              <a:rPr lang="en-US" sz="1200"/>
              <a:t xml:space="preserve">The scan is restrained to the pocket face by construction, so it cannot return “no interface involves this pocket”, only that nothing scored well.</a:t>
            </a:r>
          </a:p>
          <a:p>
            <a:r>
              <a:rPr lang="en-US" sz="1200"/>
              <a:t xml:space="preserve"/>
            </a:r>
          </a:p>
          <a:p>
            <a:r>
              <a:rPr lang="en-US" sz="1200"/>
              <a:t xml:space="preserve">Limits. All three evidence layers are observational. Scope is nuclear and cytosolic only. The scoring function is specified but not written. Pose ranking and the ligase-against-target co-expression comparison are not built. The inhibitor-versus-knockout discordance corpus is not assembled.</a:t>
            </a:r>
          </a:p>
        </p:txBody>
      </p:sp>
      <p:sp>
        <p:nvSpPr>
          <p:cNvPr id="3" name="Slide Number Placeholder"/>
          <p:cNvSpPr>
            <a:spLocks noGrp="1"/>
          </p:cNvSpPr>
          <p:nvPr>
            <p:ph type="sldNum" sz="quarter" idx="10"/>
          </p:nvPr>
        </p:nvSpPr>
        <p:spPr/>
        <p:txBody>
          <a:bodyPr/>
          <a:lstStyle/>
          <a:p>
            <a:fld id="{B9E8A9A1-0000-0000-0000-000000000001}" type="slidenum">
              <a:rPr lang="en-US" sz="1200"/>
              <a:t>12</a:t>
            </a:fld>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Exit depth: for an attachment atom, the shortest distance to a point where a foreign protein atom could sit and still have a clear line out to solvent. 320 sampled directions, 1.70 Å probe, Bondi radii.</a:t>
            </a:r>
          </a:p>
          <a:p>
            <a:r>
              <a:rPr lang="en-US" sz="1200"/>
              <a:t xml:space="preserve"/>
            </a:r>
          </a:p>
          <a:p>
            <a:r>
              <a:rPr lang="en-US" sz="1200"/>
              <a:t xml:space="preserve">floor = max(depth A, depth B). This holds for every relative orientation of the two proteins, so it needs no docking and no pose. It is the only number in the stack allowed to delete a compound.</a:t>
            </a:r>
          </a:p>
          <a:p>
            <a:r>
              <a:rPr lang="en-US" sz="1200"/>
              <a:t xml:space="preserve"/>
            </a:r>
          </a:p>
          <a:p>
            <a:r>
              <a:rPr lang="en-US" sz="1200"/>
              <a:t xml:space="preserve">required = depth A + depth B. A model of two pockets facing each other across the interface, not a theorem. It drives the target linker length.</a:t>
            </a:r>
          </a:p>
          <a:p>
            <a:r>
              <a:rPr lang="en-US" sz="1200"/>
              <a:t xml:space="preserve"/>
            </a:r>
          </a:p>
          <a:p>
            <a:r>
              <a:rPr lang="en-US" sz="1200"/>
              <a:t xml:space="preserve">Attachment-point ranking follows Franzini 2026, built on 8,228 cocrystals and 131,431 positions. It classifies about 22 percent of real PROTAC attachment sites as inaccessible, so it ranks rather than filters.</a:t>
            </a:r>
          </a:p>
          <a:p>
            <a:r>
              <a:rPr lang="en-US" sz="1200"/>
              <a:t xml:space="preserve"/>
            </a:r>
          </a:p>
          <a:p>
            <a:r>
              <a:rPr lang="en-US" sz="1200"/>
              <a:t xml:space="preserve">Cross-species: BLOSUM62 alignment with affine gaps, Kabsch superposition fitted on site residues, substitution severity weighted by distance to the site. Triage only; it is not a validated predictor.</a:t>
            </a:r>
          </a:p>
          <a:p>
            <a:r>
              <a:rPr lang="en-US" sz="1200"/>
              <a:t xml:space="preserve"/>
            </a:r>
          </a:p>
          <a:p>
            <a:r>
              <a:rPr lang="en-US" sz="1200"/>
              <a:t xml:space="preserve">Test coverage: 119 unit assertions on the span engine, 57 on the page.</a:t>
            </a:r>
          </a:p>
          <a:p>
            <a:r>
              <a:rPr lang="en-US" sz="1200"/>
              <a:t xml:space="preserve"/>
            </a:r>
          </a:p>
          <a:p>
            <a:r>
              <a:rPr lang="en-US" sz="1200"/>
              <a:t xml:space="preserve">This is the tool that formalises the RET exit-vector decision: what was argued from a co-crystal and a reading of the dynamics is now computed from the two structures.</a:t>
            </a:r>
          </a:p>
          <a:p>
            <a:r>
              <a:rPr lang="en-US" sz="1200"/>
              <a:t xml:space="preserve"/>
            </a:r>
          </a:p>
          <a:p>
            <a:r>
              <a:rPr lang="en-US" sz="1200"/>
              <a:t xml:space="preserve">Not modelled: ubiquitination competence — whether a lysine is positioned and the complex lives long enough. Nothing here is calibrated against measured degradation.</a:t>
            </a:r>
          </a:p>
        </p:txBody>
      </p:sp>
      <p:sp>
        <p:nvSpPr>
          <p:cNvPr id="3" name="Slide Number Placeholder"/>
          <p:cNvSpPr>
            <a:spLocks noGrp="1"/>
          </p:cNvSpPr>
          <p:nvPr>
            <p:ph type="sldNum" sz="quarter" idx="10"/>
          </p:nvPr>
        </p:nvSpPr>
        <p:spPr/>
        <p:txBody>
          <a:bodyPr/>
          <a:lstStyle/>
          <a:p>
            <a:fld id="{B9E8A9A1-0000-0000-0000-000000000001}" type="slidenum">
              <a:rPr lang="en-US" sz="1200"/>
              <a:t>13</a:t>
            </a:fld>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Thermodynamics. A ternary complex forms through a binary intermediate, so the effective dissociation constant is Kᴅ₁·Kᴅ₃ / α. Binary affinity multiplies; cooperativity only divides. α = 100 is worth about 2.7 kcal/mol. So the compound needs measurable affinity for one partner. Precedents: thalidomide to CRBN, indisulam to DCAF15, CR8 to the CDK12 ATP site.</a:t>
            </a:r>
          </a:p>
          <a:p>
            <a:r>
              <a:rPr lang="en-US" sz="1200"/>
              <a:t xml:space="preserve"/>
            </a:r>
          </a:p>
          <a:p>
            <a:r>
              <a:rPr lang="en-US" sz="1200"/>
              <a:t xml:space="preserve">Site selection uses local energetic frustration computed over an MD ensemble on apo, binary and ternary states. The direction is counter-intuitive: more interface frustration associates with better glue behaviour, so it selects a site rather than being an objective to minimise.</a:t>
            </a:r>
          </a:p>
          <a:p>
            <a:r>
              <a:rPr lang="en-US" sz="1200"/>
              <a:t xml:space="preserve"/>
            </a:r>
          </a:p>
          <a:p>
            <a:r>
              <a:rPr lang="en-US" sz="1200"/>
              <a:t xml:space="preserve">Evidence base: one target–ligase pair, SMARCA2–VHL across 16 PROTACs, reported without a correlation coefficient. Both supporting papers are retrospective.</a:t>
            </a:r>
          </a:p>
          <a:p>
            <a:r>
              <a:rPr lang="en-US" sz="1200"/>
              <a:t xml:space="preserve"/>
            </a:r>
          </a:p>
          <a:p>
            <a:r>
              <a:rPr lang="en-US" sz="1200"/>
              <a:t xml:space="preserve">The frustration port agrees with the reference implementation on 89 percent of pair classifications and reproduces the published 40/50/10 split on proteins it had not seen.</a:t>
            </a:r>
          </a:p>
          <a:p>
            <a:r>
              <a:rPr lang="en-US" sz="1200"/>
              <a:t xml:space="preserve"/>
            </a:r>
          </a:p>
          <a:p>
            <a:r>
              <a:rPr lang="en-US" sz="1200"/>
              <a:t xml:space="preserve">Not generative. Published diffusion models produce physically valid 3D structures between 0.4 and 11 percent of the time, and are out of distribution on shallow interfaces.</a:t>
            </a:r>
          </a:p>
          <a:p>
            <a:r>
              <a:rPr lang="en-US" sz="1200"/>
              <a:t xml:space="preserve"/>
            </a:r>
          </a:p>
          <a:p>
            <a:r>
              <a:rPr lang="en-US" sz="1200"/>
              <a:t xml:space="preserve">Library: 103 compounds, nine chemotype series plus five benchmark glues. Ranked 0.40 property fit, 0.35 synthetic tractability, 0.25 availability. Availability is a structure-based proxy, not a catalogue lookup — expect about half the one-step tier to be make-on-demand with a three-to-six week lead time.</a:t>
            </a:r>
          </a:p>
          <a:p>
            <a:r>
              <a:rPr lang="en-US" sz="1200"/>
              <a:t xml:space="preserve"/>
            </a:r>
          </a:p>
          <a:p>
            <a:r>
              <a:rPr lang="en-US" sz="1200"/>
              <a:t xml:space="preserve">Not done: nothing purchased or screened. The retrospective check across known glue complexes has not been run.</a:t>
            </a:r>
          </a:p>
        </p:txBody>
      </p:sp>
      <p:sp>
        <p:nvSpPr>
          <p:cNvPr id="3" name="Slide Number Placeholder"/>
          <p:cNvSpPr>
            <a:spLocks noGrp="1"/>
          </p:cNvSpPr>
          <p:nvPr>
            <p:ph type="sldNum" sz="quarter" idx="10"/>
          </p:nvPr>
        </p:nvSpPr>
        <p:spPr/>
        <p:txBody>
          <a:bodyPr/>
          <a:lstStyle/>
          <a:p>
            <a:fld id="{B9E8A9A1-0000-0000-0000-000000000001}" type="slidenum">
              <a:rPr lang="en-US" sz="1200"/>
              <a:t>14</a:t>
            </a:fld>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Cost order: nomination is free, the ligase scan is about three seconds per pair, the geometry is seconds, and only the final step costs money.</a:t>
            </a:r>
          </a:p>
          <a:p>
            <a:r>
              <a:rPr lang="en-US" sz="1200"/>
              <a:t xml:space="preserve"/>
            </a:r>
          </a:p>
          <a:p>
            <a:r>
              <a:rPr lang="en-US" sz="1200"/>
              <a:t xml:space="preserve">Every score in the stack rules a candidate out and never rules one in. The single exception is the linker-reach floor, which is a geometric bound rather than a heuristic.</a:t>
            </a:r>
          </a:p>
          <a:p>
            <a:r>
              <a:rPr lang="en-US" sz="1200"/>
              <a:t xml:space="preserve"/>
            </a:r>
          </a:p>
          <a:p>
            <a:r>
              <a:rPr lang="en-US" sz="1200"/>
              <a:t xml:space="preserve">Running: the 37-case calibration set; the ligase scan with its leakage-controlled benchmark; the Exit Vectors, TC Feasibility and Cross-Species pages; the 103-compound library and the descriptor engine behind it.</a:t>
            </a:r>
          </a:p>
          <a:p>
            <a:r>
              <a:rPr lang="en-US" sz="1200"/>
              <a:t xml:space="preserve"/>
            </a:r>
          </a:p>
          <a:p>
            <a:r>
              <a:rPr lang="en-US" sz="1200"/>
              <a:t xml:space="preserve">Specified and not written: the nomination scoring function, and the simulation triage that picks the final few compounds.</a:t>
            </a:r>
          </a:p>
          <a:p>
            <a:r>
              <a:rPr lang="en-US" sz="1200"/>
              <a:t xml:space="preserve"/>
            </a:r>
          </a:p>
          <a:p>
            <a:r>
              <a:rPr lang="en-US" sz="1200"/>
              <a:t xml:space="preserve">Not started: pose ranking; ligase-against-target co-expression; the inhibitor-versus-knockout discordance corpus; one target–ligase pair run through all four tools.</a:t>
            </a:r>
          </a:p>
          <a:p>
            <a:r>
              <a:rPr lang="en-US" sz="1200"/>
              <a:t xml:space="preserve"/>
            </a:r>
          </a:p>
          <a:p>
            <a:r>
              <a:rPr lang="en-US" sz="1200"/>
              <a:t xml:space="preserve">First candidate for an end-to-end run: a non-catalytic nuclear I&amp;I target, STAT6 or IRF5, against CRBN.</a:t>
            </a:r>
          </a:p>
          <a:p>
            <a:r>
              <a:rPr lang="en-US" sz="1200"/>
              <a:t xml:space="preserve"/>
            </a:r>
          </a:p>
          <a:p>
            <a:r>
              <a:rPr lang="en-US" sz="1200"/>
              <a:t xml:space="preserve">The test that would settle the approach: run frustration across the known glue ternary complexes and check whether glue sites are enriched for strained contacts against matched interface patches that do not bind glues. Roughly one day of work. Not run.</a:t>
            </a:r>
          </a:p>
        </p:txBody>
      </p:sp>
      <p:sp>
        <p:nvSpPr>
          <p:cNvPr id="3" name="Slide Number Placeholder"/>
          <p:cNvSpPr>
            <a:spLocks noGrp="1"/>
          </p:cNvSpPr>
          <p:nvPr>
            <p:ph type="sldNum" sz="quarter" idx="10"/>
          </p:nvPr>
        </p:nvSpPr>
        <p:spPr/>
        <p:txBody>
          <a:bodyPr/>
          <a:lstStyle/>
          <a:p>
            <a:fld id="{B9E8A9A1-0000-0000-0000-000000000001}" type="slidenum">
              <a:rPr lang="en-US" sz="1200"/>
              <a:t>15</a:t>
            </a:fld>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On endpoints. In oncology a dependency screen gives a defensible shortlist before any reading. Immunology, inflammation and cardiometabolic disease have nothing equivalent, so the target evidence had to be assembled from human genetics, expression, clinical failures and trial registries one case at a time. That makes the ranking function the whole argument, which is a reason to agree it as a team and to run more than one weighting against the same calibration set rather than trusting a single set of numbers.</a:t>
            </a:r>
          </a:p>
          <a:p>
            <a:r>
              <a:rPr lang="en-US" sz="1200"/>
              <a:t xml:space="preserve"/>
            </a:r>
          </a:p>
          <a:p>
            <a:r>
              <a:rPr lang="en-US" sz="1200"/>
              <a:t xml:space="preserve">On software cost. This editor — PowerPoint import, editing, export, presenter view — was specified and built in about an hour of wall-clock time. It does a fraction of what PowerPoint does and it does it for one deck. The trade is now favourable often enough that building the tool for the question is worth considering before adapting the question to the tool.</a:t>
            </a:r>
          </a:p>
          <a:p>
            <a:r>
              <a:rPr lang="en-US" sz="1200"/>
              <a:t xml:space="preserve"/>
            </a:r>
          </a:p>
          <a:p>
            <a:r>
              <a:rPr lang="en-US" sz="1200"/>
              <a:t xml:space="preserve">On agents. Three kinds of work ran concurrently: literature and provenance research, implementation, and verification. The verification agent was given the artefact and not the reasoning that produced it, which caught errors the author would have confirmed. One example: a research pass corrected the assumption that the Omni Tool performed the PPI docking; the docking is a separate component whose benchmark returned no near-native poses.</a:t>
            </a:r>
          </a:p>
          <a:p>
            <a:r>
              <a:rPr lang="en-US" sz="1200"/>
              <a:t xml:space="preserve"/>
            </a:r>
          </a:p>
          <a:p>
            <a:r>
              <a:rPr lang="en-US" sz="1200"/>
              <a:t xml:space="preserve">The limit is coordination, not capacity. Parallel agents multiply throughput only where the work can be stated precisely enough to hand over.</a:t>
            </a:r>
          </a:p>
        </p:txBody>
      </p:sp>
      <p:sp>
        <p:nvSpPr>
          <p:cNvPr id="3" name="Slide Number Placeholder"/>
          <p:cNvSpPr>
            <a:spLocks noGrp="1"/>
          </p:cNvSpPr>
          <p:nvPr>
            <p:ph type="sldNum" sz="quarter" idx="10"/>
          </p:nvPr>
        </p:nvSpPr>
        <p:spPr/>
        <p:txBody>
          <a:bodyPr/>
          <a:lstStyle/>
          <a:p>
            <a:fld id="{B9E8A9A1-0000-0000-0000-000000000001}" type="slidenum">
              <a:rPr lang="en-US" sz="1200"/>
              <a:t>16</a:t>
            </a:fld>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The claim is narrow. The RET programme succeeded because three structural decisions were taken correctly and early, and two of the three were made from a monovalent co-crystal plus a reading of the fold. Those are exactly the decisions that can be computed.</a:t>
            </a:r>
          </a:p>
          <a:p>
            <a:r>
              <a:rPr lang="en-US" sz="1200"/>
              <a:t xml:space="preserve"/>
            </a:r>
          </a:p>
          <a:p>
            <a:r>
              <a:rPr lang="en-US" sz="1200"/>
              <a:t xml:space="preserve">What the tools do: nominate targets where no essentiality screen exists; propose a ligase rather than defaulting to cereblon; compute what a linker can and cannot reach from the two structures alone; and turn an interface into a compound set that can be ordered.</a:t>
            </a:r>
          </a:p>
          <a:p>
            <a:r>
              <a:rPr lang="en-US" sz="1200"/>
              <a:t xml:space="preserve"/>
            </a:r>
          </a:p>
          <a:p>
            <a:r>
              <a:rPr lang="en-US" sz="1200"/>
              <a:t xml:space="preserve">What they do not do: rank poses, confirm ubiquitination competence, or predict degradation. Every score rules candidates out; none rules one in. The only hard bound is geometric.</a:t>
            </a:r>
          </a:p>
          <a:p>
            <a:r>
              <a:rPr lang="en-US" sz="1200"/>
              <a:t xml:space="preserve"/>
            </a:r>
          </a:p>
          <a:p>
            <a:r>
              <a:rPr lang="en-US" sz="1200"/>
              <a:t xml:space="preserve">The honest state of the ligase step: 0 of 20 near-native poses in the top ten against a leakage-controlled benchmark, with the native partner sitting a median 9.7 Å off the sampled axis. That is reported here rather than smoothed over, because a scoring function measured on a pose 19 Å from truth is measuring the wrong complex.</a:t>
            </a:r>
          </a:p>
          <a:p>
            <a:r>
              <a:rPr lang="en-US" sz="1200"/>
              <a:t xml:space="preserve"/>
            </a:r>
          </a:p>
          <a:p>
            <a:r>
              <a:rPr lang="en-US" sz="1200"/>
              <a:t xml:space="preserve">Next, in order: run one target–ligase pair end to end — a nuclear I&amp;I target such as STAT6 or IRF5 against CRBN; then the retrospective frustration check across known glue complexes, which is about a day of work and would either support the site-selection premise or remove it.</a:t>
            </a:r>
          </a:p>
        </p:txBody>
      </p:sp>
      <p:sp>
        <p:nvSpPr>
          <p:cNvPr id="3" name="Slide Number Placeholder"/>
          <p:cNvSpPr>
            <a:spLocks noGrp="1"/>
          </p:cNvSpPr>
          <p:nvPr>
            <p:ph type="sldNum" sz="quarter" idx="10"/>
          </p:nvPr>
        </p:nvSpPr>
        <p:spPr/>
        <p:txBody>
          <a:bodyPr/>
          <a:lstStyle/>
          <a:p>
            <a:fld id="{B9E8A9A1-0000-0000-0000-000000000001}" type="slidenum">
              <a:rPr lang="en-US" sz="1200"/>
              <a:t>17</a:t>
            </a:fld>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SMARCA2 is the SWI/SNF-related, matrix-associated, actin-dependent regulator of chromatin, subfamily A, member 2 — a key ATPase subunit of the SWI/SNF chromatin remodelling complex. SMARCA4-deficient cancers depend on it, which is a synthetic-lethal relationship.</a:t>
            </a:r>
          </a:p>
          <a:p>
            <a:r>
              <a:rPr lang="en-US" sz="1200"/>
              <a:t xml:space="preserve"/>
            </a:r>
          </a:p>
          <a:p>
            <a:r>
              <a:rPr lang="en-US" sz="1200"/>
              <a:t xml:space="preserve">The bromodomain binding sites of SMARCA2 and SMARCA4 are nearly identical, so a warhead cannot discriminate. The hypothesis was that targeted degradation could, because selectivity can be generated at the ternary complex rather than at the binary binding event, giving a wider therapeutic index than inhibition.</a:t>
            </a:r>
          </a:p>
          <a:p>
            <a:r>
              <a:rPr lang="en-US" sz="1200"/>
              <a:t xml:space="preserve"/>
            </a:r>
          </a:p>
          <a:p>
            <a:r>
              <a:rPr lang="en-US" sz="1200"/>
              <a:t xml:space="preserve">Model construction, in order: mutate all surface residues of the X-ray structures to alanine; align the two binding sites so a linker can reach both without disrupting either binding mode; discard models that do not accommodate the hydrogen-deuterium exchange signal in the protein–protein interface; restore side chains and discard models with clashes.</a:t>
            </a:r>
          </a:p>
          <a:p>
            <a:r>
              <a:rPr lang="en-US" sz="1200"/>
              <a:t xml:space="preserve"/>
            </a:r>
          </a:p>
          <a:p>
            <a:r>
              <a:rPr lang="en-US" sz="1200"/>
              <a:t xml:space="preserve">This produced a population of models rather than a structure, which is the normal situation and the reason the next slide exists.</a:t>
            </a:r>
          </a:p>
          <a:p>
            <a:r>
              <a:rPr lang="en-US" sz="1200"/>
              <a:t xml:space="preserve"/>
            </a:r>
          </a:p>
          <a:p>
            <a:r>
              <a:rPr lang="en-US" sz="1200"/>
              <a:t xml:space="preserve">Ternary complex models by Hongwei Huang and Andy Good; HDX data from Scott Eron. Patent application WO2023244764A1.</a:t>
            </a:r>
          </a:p>
        </p:txBody>
      </p:sp>
      <p:sp>
        <p:nvSpPr>
          <p:cNvPr id="3" name="Slide Number Placeholder"/>
          <p:cNvSpPr>
            <a:spLocks noGrp="1"/>
          </p:cNvSpPr>
          <p:nvPr>
            <p:ph type="sldNum" sz="quarter" idx="10"/>
          </p:nvPr>
        </p:nvSpPr>
        <p:spPr/>
        <p:txBody>
          <a:bodyPr/>
          <a:lstStyle/>
          <a:p>
            <a:fld id="{B9E8A9A1-0000-0000-0000-000000000001}" type="slidenum">
              <a:rPr lang="en-US" sz="1200"/>
              <a:t>18</a:t>
            </a:fld>
          </a:p>
        </p:txBody>
      </p:sp>
    </p:spTree>
  </p:cSld>
  <p:clrMapOvr>
    <a:masterClrMapping/>
  </p:clrMapOvr>
</p:notes>
</file>

<file path=ppt/notesSlides/notesSlide1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Ternary complex modelling generates many physically plausible models. Before any of them can be used for design, they have to be reduced to one.</a:t>
            </a:r>
          </a:p>
          <a:p>
            <a:r>
              <a:rPr lang="en-US" sz="1200"/>
              <a:t xml:space="preserve"/>
            </a:r>
          </a:p>
          <a:p>
            <a:r>
              <a:rPr lang="en-US" sz="1200"/>
              <a:t xml:space="preserve">The method: align the surviving models on the targeting ligand, then separately on the ligase ligand, and catalogue the points at which the implied bioactive conformations differ. Examples of such points — the dihedral between the phenyl ring and the ether carbon, whether the aniline ether points up or down, whether the aryl ether turns left, right or orthogonal, whether the benzylic methylene rotates up or down, whether the amide nitrogen sits left of or above the carbonyl.</a:t>
            </a:r>
          </a:p>
          <a:p>
            <a:r>
              <a:rPr lang="en-US" sz="1200"/>
              <a:t xml:space="preserve"/>
            </a:r>
          </a:p>
          <a:p>
            <a:r>
              <a:rPr lang="en-US" sz="1200"/>
              <a:t xml:space="preserve">Each point of divergence is then testable: build a compound whose substitution pattern sterically or electronically favours one conformer, and see whether potency follows.</a:t>
            </a:r>
          </a:p>
          <a:p>
            <a:r>
              <a:rPr lang="en-US" sz="1200"/>
              <a:t xml:space="preserve"/>
            </a:r>
          </a:p>
          <a:p>
            <a:r>
              <a:rPr lang="en-US" sz="1200"/>
              <a:t xml:space="preserve">Compounds 001 and 003 favour the extended conformation and degrade at 30 nM and 45 nM. Compound 002 disfavours it and falls to 915 nM, a roughly thirty-fold loss. Multiple examples from prior SAR agreed, so model 1689 was carried forward.</a:t>
            </a:r>
          </a:p>
          <a:p>
            <a:r>
              <a:rPr lang="en-US" sz="1200"/>
              <a:t xml:space="preserve"/>
            </a:r>
          </a:p>
          <a:p>
            <a:r>
              <a:rPr lang="en-US" sz="1200"/>
              <a:t xml:space="preserve">Model 1689 places the Z-helix, one of the few differentiated regions between SMARCA2 and SMARCA4, inside the protein–protein interface — a structural candidate for the observed selectivity. Residues differing between the two paralogues are highlighted in the renders.</a:t>
            </a:r>
          </a:p>
        </p:txBody>
      </p:sp>
      <p:sp>
        <p:nvSpPr>
          <p:cNvPr id="3" name="Slide Number Placeholder"/>
          <p:cNvSpPr>
            <a:spLocks noGrp="1"/>
          </p:cNvSpPr>
          <p:nvPr>
            <p:ph type="sldNum" sz="quarter" idx="10"/>
          </p:nvPr>
        </p:nvSpPr>
        <p:spPr/>
        <p:txBody>
          <a:bodyPr/>
          <a:lstStyle/>
          <a:p>
            <a:fld id="{B9E8A9A1-0000-0000-0000-000000000001}" type="slidenum">
              <a:rPr lang="en-US" sz="1200"/>
              <a:t>19</a:t>
            </a:fld>
          </a:p>
        </p:txBody>
      </p:sp>
    </p:spTree>
  </p:cSld>
  <p:clrMapOvr>
    <a:masterClrMapping/>
  </p:clrMapOvr>
</p:notes>
</file>

<file path=ppt/notesSlides/notesSlide2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343400"/>
            <a:ext cx="5486400" cy="4114800"/>
          </a:xfrm>
          <a:prstGeom prst="rect">
            <a:avLst/>
          </a:prstGeom>
        </p:spPr>
        <p:txBody>
          <a:bodyPr/>
          <a:lstStyle/>
          <a:p>
            <a:r>
              <a:rPr lang="en-US" sz="1200"/>
              <a:t xml:space="preserve">The design question once model 1689 was chosen: how to make the molecule adopt that conformation without paying for it at either binding site.</a:t>
            </a:r>
          </a:p>
          <a:p>
            <a:r>
              <a:rPr lang="en-US" sz="1200"/>
              <a:t xml:space="preserve"/>
            </a:r>
          </a:p>
          <a:p>
            <a:r>
              <a:rPr lang="en-US" sz="1200"/>
              <a:t xml:space="preserve">The answer was a 6,6-spirocycle in the linker, which pre-organises the torsion the model requires and removes rotatable bonds that would otherwise sample unproductive conformations.</a:t>
            </a:r>
          </a:p>
          <a:p>
            <a:r>
              <a:rPr lang="en-US" sz="1200"/>
              <a:t xml:space="preserve"/>
            </a:r>
          </a:p>
          <a:p>
            <a:r>
              <a:rPr lang="en-US" sz="1200"/>
              <a:t xml:space="preserve">Compound 004, the acyclic ethyl ether linker: 40 nM to 23% remaining on SMARCA2, SMARCA4 at 65 nM inflection to 64%, clearance 130 mL/min/kg.</a:t>
            </a:r>
          </a:p>
          <a:p>
            <a:r>
              <a:rPr lang="en-US" sz="1200"/>
              <a:t xml:space="preserve"/>
            </a:r>
          </a:p>
          <a:p>
            <a:r>
              <a:rPr lang="en-US" sz="1200"/>
              <a:t xml:space="preserve">Compound 005, the rigid spirocyclic linker: 50 nM to 15% remaining on SMARCA2, SMARCA4 at 110 nM to 84%, clearance 18 mL/min/kg. Deeper degradation, a wider paralogue margin and a sevenfold reduction in clearance.</a:t>
            </a:r>
          </a:p>
          <a:p>
            <a:r>
              <a:rPr lang="en-US" sz="1200"/>
              <a:t xml:space="preserve"/>
            </a:r>
          </a:p>
          <a:p>
            <a:r>
              <a:rPr lang="en-US" sz="1200"/>
              <a:t xml:space="preserve">The general point this project makes, and the reason it sits behind the tools: a ternary complex model is only useful once it has been reduced to one model and tested against existing SAR. Conformational analysis cross-referenced against historic potency and selectivity data is what does the reducing.</a:t>
            </a:r>
          </a:p>
        </p:txBody>
      </p:sp>
      <p:sp>
        <p:nvSpPr>
          <p:cNvPr id="3" name="Slide Number Placeholder"/>
          <p:cNvSpPr>
            <a:spLocks noGrp="1"/>
          </p:cNvSpPr>
          <p:nvPr>
            <p:ph type="sldNum" sz="quarter" idx="10"/>
          </p:nvPr>
        </p:nvSpPr>
        <p:spPr/>
        <p:txBody>
          <a:bodyPr/>
          <a:lstStyle/>
          <a:p>
            <a:fld id="{B9E8A9A1-0000-0000-0000-000000000001}" type="slidenum">
              <a:rPr lang="en-US" sz="1200"/>
              <a:t>20</a:t>
            </a:fld>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3206" y="548640"/>
            <a:ext cx="10565587" cy="960120"/>
          </a:xfrm>
          <a:prstGeom prst="rect">
            <a:avLst/>
          </a:prstGeom>
        </p:spPr>
        <p:txBody>
          <a:bodyPr anchor="b"/>
          <a:lstStyle/>
          <a:p>
            <a:r>
              <a:rPr lang="en-US"/>
              <a:t>Title</a:t>
            </a:r>
          </a:p>
        </p:txBody>
      </p:sp>
      <p:sp>
        <p:nvSpPr>
          <p:cNvPr id="3" name="Text Placeholder 2"/>
          <p:cNvSpPr>
            <a:spLocks noGrp="1"/>
          </p:cNvSpPr>
          <p:nvPr>
            <p:ph type="body" idx="1"/>
          </p:nvPr>
        </p:nvSpPr>
        <p:spPr>
          <a:xfrm>
            <a:off x="813206" y="1714500"/>
            <a:ext cx="10565587" cy="4526280"/>
          </a:xfrm>
          <a:prstGeom prst="rect">
            <a:avLst/>
          </a:prstGeom>
        </p:spPr>
        <p:txBody>
          <a:bodyPr/>
          <a:lstStyle/>
          <a:p>
            <a:r>
              <a:rPr lang="en-US"/>
              <a:t>Text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marL="0" indent="0" algn="l">
        <a:buNone/>
        <a:defRPr sz="4400">
          <a:solidFill>
            <a:schemeClr val="tx1"/>
          </a:solidFill>
          <a:latin typeface="+mj-lt"/>
        </a:defRPr>
      </a:lvl1pPr>
    </p:titleStyle>
    <p:bodyStyle>
      <a:lvl1pPr marL="342900" indent="-342900" algn="l">
        <a:buFont typeface="Arial"/>
        <a:buChar char="•"/>
        <a:defRPr sz="2400">
          <a:solidFill>
            <a:schemeClr val="tx1"/>
          </a:solidFill>
          <a:latin typeface="+mn-lt"/>
        </a:defRPr>
      </a:lvl1pPr>
      <a:lvl2pPr marL="685800" indent="-342900" algn="l">
        <a:buFont typeface="Arial"/>
        <a:buChar char="•"/>
        <a:defRPr sz="2000">
          <a:solidFill>
            <a:schemeClr val="tx1"/>
          </a:solidFill>
          <a:latin typeface="+mn-lt"/>
        </a:defRPr>
      </a:lvl2pPr>
      <a:lvl3pPr marL="1028700" indent="-342900" algn="l">
        <a:buFont typeface="Arial"/>
        <a:buChar char="•"/>
        <a:defRPr sz="1800">
          <a:solidFill>
            <a:schemeClr val="tx1"/>
          </a:solidFill>
          <a:latin typeface="+mn-lt"/>
        </a:defRPr>
      </a:lvl3pPr>
      <a:lvl4pPr marL="1371600" indent="-342900" algn="l">
        <a:buFont typeface="Arial"/>
        <a:buChar char="•"/>
        <a:defRPr sz="1600">
          <a:solidFill>
            <a:schemeClr val="tx1"/>
          </a:solidFill>
          <a:latin typeface="+mn-lt"/>
        </a:defRPr>
      </a:lvl4pPr>
      <a:lvl5pPr marL="1714500" indent="-342900" algn="l">
        <a:buFont typeface="Arial"/>
        <a:buChar char="•"/>
        <a:defRPr sz="1400">
          <a:solidFill>
            <a:schemeClr val="tx1"/>
          </a:solidFill>
          <a:latin typeface="+mn-lt"/>
        </a:defRPr>
      </a:lvl5pPr>
      <a:lvl6pPr marL="2057400" indent="-342900" algn="l">
        <a:buFont typeface="Arial"/>
        <a:buChar char="•"/>
        <a:defRPr sz="1200">
          <a:solidFill>
            <a:schemeClr val="tx1"/>
          </a:solidFill>
          <a:latin typeface="+mn-lt"/>
        </a:defRPr>
      </a:lvl6pPr>
      <a:lvl7pPr marL="2400300" indent="-342900" algn="l">
        <a:buFont typeface="Arial"/>
        <a:buChar char="•"/>
        <a:defRPr sz="1200">
          <a:solidFill>
            <a:schemeClr val="tx1"/>
          </a:solidFill>
          <a:latin typeface="+mn-lt"/>
        </a:defRPr>
      </a:lvl7pPr>
      <a:lvl8pPr marL="2743200" indent="-342900" algn="l">
        <a:buFont typeface="Arial"/>
        <a:buChar char="•"/>
        <a:defRPr sz="1200">
          <a:solidFill>
            <a:schemeClr val="tx1"/>
          </a:solidFill>
          <a:latin typeface="+mn-lt"/>
        </a:defRPr>
      </a:lvl8pPr>
      <a:lvl9pPr marL="3086100" indent="-342900" algn="l">
        <a:buFont typeface="Arial"/>
        <a:buChar char="•"/>
        <a:defRPr sz="1200">
          <a:solidFill>
            <a:schemeClr val="tx1"/>
          </a:solidFill>
          <a:latin typeface="+mn-lt"/>
        </a:defRPr>
      </a:lvl9pPr>
    </p:bodyStyle>
    <p:otherStyle>
      <a:lvl1pPr marL="0" indent="0" algn="l">
        <a:buNone/>
        <a:defRPr sz="1800">
          <a:solidFill>
            <a:schemeClr val="tx1"/>
          </a:solidFill>
          <a:latin typeface="+mj-lt"/>
        </a:defRPr>
      </a:lvl1pPr>
      <a:lvl2pPr marL="0" indent="0" algn="l">
        <a:buNone/>
        <a:defRPr sz="1800">
          <a:solidFill>
            <a:schemeClr val="tx1"/>
          </a:solidFill>
          <a:latin typeface="+mj-lt"/>
        </a:defRPr>
      </a:lvl2pPr>
      <a:lvl3pPr marL="0" indent="0" algn="l">
        <a:buNone/>
        <a:defRPr sz="1800">
          <a:solidFill>
            <a:schemeClr val="tx1"/>
          </a:solidFill>
          <a:latin typeface="+mj-lt"/>
        </a:defRPr>
      </a:lvl3pPr>
      <a:lvl4pPr marL="0" indent="0" algn="l">
        <a:buNone/>
        <a:defRPr sz="1800">
          <a:solidFill>
            <a:schemeClr val="tx1"/>
          </a:solidFill>
          <a:latin typeface="+mj-lt"/>
        </a:defRPr>
      </a:lvl4pPr>
      <a:lvl5pPr marL="0" indent="0" algn="l">
        <a:buNone/>
        <a:defRPr sz="1800">
          <a:solidFill>
            <a:schemeClr val="tx1"/>
          </a:solidFill>
          <a:latin typeface="+mj-lt"/>
        </a:defRPr>
      </a:lvl5pPr>
      <a:lvl6pPr marL="0" indent="0" algn="l">
        <a:buNone/>
        <a:defRPr sz="1800">
          <a:solidFill>
            <a:schemeClr val="tx1"/>
          </a:solidFill>
          <a:latin typeface="+mj-lt"/>
        </a:defRPr>
      </a:lvl6pPr>
      <a:lvl7pPr marL="0" indent="0" algn="l">
        <a:buNone/>
        <a:defRPr sz="1800">
          <a:solidFill>
            <a:schemeClr val="tx1"/>
          </a:solidFill>
          <a:latin typeface="+mj-lt"/>
        </a:defRPr>
      </a:lvl7pPr>
      <a:lvl8pPr marL="0" indent="0" algn="l">
        <a:buNone/>
        <a:defRPr sz="1800">
          <a:solidFill>
            <a:schemeClr val="tx1"/>
          </a:solidFill>
          <a:latin typeface="+mj-lt"/>
        </a:defRPr>
      </a:lvl8pPr>
      <a:lvl9pPr marL="0" indent="0" algn="l">
        <a:buNone/>
        <a:defRPr sz="1800">
          <a:solidFill>
            <a:schemeClr val="tx1"/>
          </a:solidFill>
          <a:latin typeface="+mj-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3.jp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jpg"/><Relationship Id="rId3" Type="http://schemas.openxmlformats.org/officeDocument/2006/relationships/image" Target="../media/image17.jpg"/><Relationship Id="rId4" Type="http://schemas.openxmlformats.org/officeDocument/2006/relationships/notesSlide" Target="../notesSlides/notesSlide20.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1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Collaborator  ·  Leader  ·  Engineer</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Kiel Lazarski — </a:t>
            </a:r>
            <a:r>
              <a:rPr lang="en-US" sz="2500" b="1">
                <a:solidFill>
                  <a:schemeClr val="tx1"/>
                </a:solidFill>
                <a:latin typeface="+mj-lt"/>
                <a:cs typeface="+mj-lt"/>
              </a:rPr>
              <a:t xml:space="preserve">10+ years of medicinal chemistry</a:t>
            </a:r>
            <a:r>
              <a:rPr lang="en-US" sz="2500" b="0">
                <a:solidFill>
                  <a:schemeClr val="tx2"/>
                </a:solidFill>
                <a:latin typeface="+mj-lt"/>
                <a:cs typeface="+mj-lt"/>
              </a:rPr>
              <a:t xml:space="preserve">, advancing small molecules from hit identification through development candidate nomination</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06600"/>
            <a:ext cx="10769600" cy="203200"/>
          </a:xfrm>
          <a:prstGeom prst="rect">
            <a:avLst/>
          </a:prstGeom>
          <a:noFill/>
          <a:ln>
            <a:noFill/>
          </a:ln>
        </p:spPr>
        <p:txBody>
          <a:bodyPr lIns="0" tIns="0" rIns="0" bIns="0" rtlCol="0" anchor="t">
            <a:normAutofit/>
          </a:bodyPr>
          <a:lstStyle/>
          <a:p>
            <a:r>
              <a:rPr lang="en-US" sz="1000" b="1" spc="90" cap="all">
                <a:solidFill>
                  <a:schemeClr val="tx2">
                    <a:alpha val="66000"/>
                  </a:schemeClr>
                </a:solidFill>
                <a:latin typeface="+mn-lt"/>
                <a:cs typeface="+mn-lt"/>
              </a:rPr>
              <a:t xml:space="preserve">Now  </a:t>
            </a:r>
            <a:r>
              <a:rPr lang="en-US" sz="1100">
                <a:solidFill>
                  <a:schemeClr val="tx2"/>
                </a:solidFill>
                <a:latin typeface="+mn-lt"/>
                <a:cs typeface="+mn-lt"/>
              </a:rPr>
              <a:t xml:space="preserve">Director, Medicinal Chemistry, Flagship Pioneering  ·  35 patents and publications  ·  uses top-end AI models to prompt-engineer bespoke software and automate tasks</a:t>
            </a:r>
          </a:p>
        </p:txBody>
      </p:sp>
      <p:sp>
        <p:nvSpPr>
          <p:cNvPr id="8" name="Shape"/>
          <p:cNvSpPr/>
          <p:nvPr/>
        </p:nvSpPr>
        <p:spPr>
          <a:xfrm>
            <a:off x="711200" y="2819400"/>
            <a:ext cx="279400" cy="25400"/>
          </a:xfrm>
          <a:prstGeom prst="rect">
            <a:avLst/>
          </a:prstGeom>
          <a:solidFill>
            <a:schemeClr val="tx1">
              <a:alpha val="16000"/>
            </a:schemeClr>
          </a:solidFill>
          <a:ln>
            <a:noFill/>
          </a:ln>
        </p:spPr>
        <p:txBody>
          <a:bodyPr/>
          <a:lstStyle/>
          <a:p/>
        </p:txBody>
      </p:sp>
      <p:sp>
        <p:nvSpPr>
          <p:cNvPr id="9" name="Shape"/>
          <p:cNvSpPr txBox="1"/>
          <p:nvPr/>
        </p:nvSpPr>
        <p:spPr>
          <a:xfrm>
            <a:off x="711200" y="29972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Degraders</a:t>
            </a:r>
          </a:p>
        </p:txBody>
      </p:sp>
      <p:sp>
        <p:nvSpPr>
          <p:cNvPr id="10" name="Shape"/>
          <p:cNvSpPr txBox="1"/>
          <p:nvPr/>
        </p:nvSpPr>
        <p:spPr>
          <a:xfrm>
            <a:off x="711200" y="34036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Delivered development candidates for PROTAC and non-covalent programmes. Ternary complex models evaluated by conformational analysis and historic SAR, then used to design PROTACs with improved degradation kinetics.</a:t>
            </a:r>
          </a:p>
        </p:txBody>
      </p:sp>
      <p:sp>
        <p:nvSpPr>
          <p:cNvPr id="11" name="Shape"/>
          <p:cNvSpPr/>
          <p:nvPr/>
        </p:nvSpPr>
        <p:spPr>
          <a:xfrm>
            <a:off x="4402667" y="2819400"/>
            <a:ext cx="279400" cy="25400"/>
          </a:xfrm>
          <a:prstGeom prst="rect">
            <a:avLst/>
          </a:prstGeom>
          <a:solidFill>
            <a:schemeClr val="tx1">
              <a:alpha val="16000"/>
            </a:schemeClr>
          </a:solidFill>
          <a:ln>
            <a:noFill/>
          </a:ln>
        </p:spPr>
        <p:txBody>
          <a:bodyPr/>
          <a:lstStyle/>
          <a:p/>
        </p:txBody>
      </p:sp>
      <p:sp>
        <p:nvSpPr>
          <p:cNvPr id="12" name="Shape"/>
          <p:cNvSpPr txBox="1"/>
          <p:nvPr/>
        </p:nvSpPr>
        <p:spPr>
          <a:xfrm>
            <a:off x="4402667" y="29972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Design</a:t>
            </a:r>
          </a:p>
        </p:txBody>
      </p:sp>
      <p:sp>
        <p:nvSpPr>
          <p:cNvPr id="13" name="Shape"/>
          <p:cNvSpPr txBox="1"/>
          <p:nvPr/>
        </p:nvSpPr>
        <p:spPr>
          <a:xfrm>
            <a:off x="4402667" y="34036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Structure-based, property-driven design: X-ray, MD, FEP, QSAR. Orally bioavailable, CNS-penetrant molecules outside the Rule of 5. Hits progressed from DEL, virtual screens and fragment libraries.</a:t>
            </a:r>
          </a:p>
        </p:txBody>
      </p:sp>
      <p:sp>
        <p:nvSpPr>
          <p:cNvPr id="14" name="Shape"/>
          <p:cNvSpPr/>
          <p:nvPr/>
        </p:nvSpPr>
        <p:spPr>
          <a:xfrm>
            <a:off x="8094133" y="2819400"/>
            <a:ext cx="279400" cy="25400"/>
          </a:xfrm>
          <a:prstGeom prst="rect">
            <a:avLst/>
          </a:prstGeom>
          <a:solidFill>
            <a:schemeClr val="accent1"/>
          </a:solidFill>
          <a:ln>
            <a:noFill/>
          </a:ln>
        </p:spPr>
        <p:txBody>
          <a:bodyPr/>
          <a:lstStyle/>
          <a:p/>
        </p:txBody>
      </p:sp>
      <p:sp>
        <p:nvSpPr>
          <p:cNvPr id="15" name="Shape"/>
          <p:cNvSpPr txBox="1"/>
          <p:nvPr/>
        </p:nvSpPr>
        <p:spPr>
          <a:xfrm>
            <a:off x="8094133" y="29972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accent1"/>
                </a:solidFill>
                <a:latin typeface="+mn-lt"/>
                <a:cs typeface="+mn-lt"/>
              </a:rPr>
              <a:t xml:space="preserve">Teams</a:t>
            </a:r>
          </a:p>
        </p:txBody>
      </p:sp>
      <p:sp>
        <p:nvSpPr>
          <p:cNvPr id="16" name="Shape"/>
          <p:cNvSpPr txBox="1"/>
          <p:nvPr/>
        </p:nvSpPr>
        <p:spPr>
          <a:xfrm>
            <a:off x="8094133" y="34036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1"/>
                </a:solidFill>
                <a:latin typeface="+mn-lt"/>
                <a:cs typeface="+mn-lt"/>
              </a:rPr>
              <a:t xml:space="preserve">Leads internal and external chemistry teams across FTE, FFS and CRO models. Mentors scientists and builds high-performing multi-disciplinary teams.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2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The exercise</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Two tasks — </a:t>
            </a:r>
            <a:r>
              <a:rPr lang="en-US" sz="2500" b="1">
                <a:solidFill>
                  <a:schemeClr val="tx1"/>
                </a:solidFill>
                <a:latin typeface="+mj-lt"/>
                <a:cs typeface="+mj-lt"/>
              </a:rPr>
              <a:t xml:space="preserve">a past project revisited with Claude</a:t>
            </a:r>
            <a:r>
              <a:rPr lang="en-US" sz="2500" b="0">
                <a:solidFill>
                  <a:schemeClr val="tx2"/>
                </a:solidFill>
                <a:latin typeface="+mj-lt"/>
                <a:cs typeface="+mj-lt"/>
              </a:rPr>
              <a:t xml:space="preserve">, and a programme plan for a target with real unmet need</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06600"/>
            <a:ext cx="10769600" cy="203200"/>
          </a:xfrm>
          <a:prstGeom prst="rect">
            <a:avLst/>
          </a:prstGeom>
          <a:noFill/>
          <a:ln>
            <a:noFill/>
          </a:ln>
        </p:spPr>
        <p:txBody>
          <a:bodyPr lIns="0" tIns="0" rIns="0" bIns="0" rtlCol="0" anchor="t">
            <a:normAutofit/>
          </a:bodyPr>
          <a:lstStyle/>
          <a:p>
            <a:r>
              <a:rPr lang="en-US" sz="1000" b="1" spc="90" cap="all">
                <a:solidFill>
                  <a:schemeClr val="tx2">
                    <a:alpha val="66000"/>
                  </a:schemeClr>
                </a:solidFill>
                <a:latin typeface="+mn-lt"/>
                <a:cs typeface="+mn-lt"/>
              </a:rPr>
              <a:t xml:space="preserve">Answered with  </a:t>
            </a:r>
            <a:r>
              <a:rPr lang="en-US" sz="1100">
                <a:solidFill>
                  <a:schemeClr val="tx2"/>
                </a:solidFill>
                <a:latin typeface="+mn-lt"/>
                <a:cs typeface="+mn-lt"/>
              </a:rPr>
              <a:t xml:space="preserve">the published pan-mutant RET degrader programme, and four tools built for this exercise</a:t>
            </a:r>
          </a:p>
        </p:txBody>
      </p:sp>
      <p:sp>
        <p:nvSpPr>
          <p:cNvPr id="8" name="Shape"/>
          <p:cNvSpPr/>
          <p:nvPr/>
        </p:nvSpPr>
        <p:spPr>
          <a:xfrm>
            <a:off x="711200" y="2819400"/>
            <a:ext cx="279400" cy="25400"/>
          </a:xfrm>
          <a:prstGeom prst="rect">
            <a:avLst/>
          </a:prstGeom>
          <a:solidFill>
            <a:schemeClr val="tx1">
              <a:alpha val="16000"/>
            </a:schemeClr>
          </a:solidFill>
          <a:ln>
            <a:noFill/>
          </a:ln>
        </p:spPr>
        <p:txBody>
          <a:bodyPr/>
          <a:lstStyle/>
          <a:p/>
        </p:txBody>
      </p:sp>
      <p:sp>
        <p:nvSpPr>
          <p:cNvPr id="9" name="Shape"/>
          <p:cNvSpPr txBox="1"/>
          <p:nvPr/>
        </p:nvSpPr>
        <p:spPr>
          <a:xfrm>
            <a:off x="711200" y="29972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Task 1 — the project</a:t>
            </a:r>
          </a:p>
        </p:txBody>
      </p:sp>
      <p:sp>
        <p:nvSpPr>
          <p:cNvPr id="10" name="Shape"/>
          <p:cNvSpPr txBox="1"/>
          <p:nvPr/>
        </p:nvSpPr>
        <p:spPr>
          <a:xfrm>
            <a:off x="711200" y="34036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The pan-mutant RET degrader programme. Published in full, so every decision behind it can be shown and questioned.</a:t>
            </a:r>
          </a:p>
        </p:txBody>
      </p:sp>
      <p:sp>
        <p:nvSpPr>
          <p:cNvPr id="11" name="Shape"/>
          <p:cNvSpPr/>
          <p:nvPr/>
        </p:nvSpPr>
        <p:spPr>
          <a:xfrm>
            <a:off x="4402667" y="2819400"/>
            <a:ext cx="279400" cy="25400"/>
          </a:xfrm>
          <a:prstGeom prst="rect">
            <a:avLst/>
          </a:prstGeom>
          <a:solidFill>
            <a:schemeClr val="tx1">
              <a:alpha val="16000"/>
            </a:schemeClr>
          </a:solidFill>
          <a:ln>
            <a:noFill/>
          </a:ln>
        </p:spPr>
        <p:txBody>
          <a:bodyPr/>
          <a:lstStyle/>
          <a:p/>
        </p:txBody>
      </p:sp>
      <p:sp>
        <p:nvSpPr>
          <p:cNvPr id="12" name="Shape"/>
          <p:cNvSpPr txBox="1"/>
          <p:nvPr/>
        </p:nvSpPr>
        <p:spPr>
          <a:xfrm>
            <a:off x="4402667" y="29972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Task 2 — the plan</a:t>
            </a:r>
          </a:p>
        </p:txBody>
      </p:sp>
      <p:sp>
        <p:nvSpPr>
          <p:cNvPr id="13" name="Shape"/>
          <p:cNvSpPr txBox="1"/>
          <p:nvPr/>
        </p:nvSpPr>
        <p:spPr>
          <a:xfrm>
            <a:off x="4402667" y="34036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Four tools that nominate a target, choose a ligase, measure the interface and propose a compound set.</a:t>
            </a:r>
          </a:p>
        </p:txBody>
      </p:sp>
      <p:sp>
        <p:nvSpPr>
          <p:cNvPr id="14" name="Shape"/>
          <p:cNvSpPr/>
          <p:nvPr/>
        </p:nvSpPr>
        <p:spPr>
          <a:xfrm>
            <a:off x="8094133" y="2819400"/>
            <a:ext cx="279400" cy="25400"/>
          </a:xfrm>
          <a:prstGeom prst="rect">
            <a:avLst/>
          </a:prstGeom>
          <a:solidFill>
            <a:schemeClr val="accent1"/>
          </a:solidFill>
          <a:ln>
            <a:noFill/>
          </a:ln>
        </p:spPr>
        <p:txBody>
          <a:bodyPr/>
          <a:lstStyle/>
          <a:p/>
        </p:txBody>
      </p:sp>
      <p:sp>
        <p:nvSpPr>
          <p:cNvPr id="15" name="Shape"/>
          <p:cNvSpPr txBox="1"/>
          <p:nvPr/>
        </p:nvSpPr>
        <p:spPr>
          <a:xfrm>
            <a:off x="8094133" y="29972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accent1"/>
                </a:solidFill>
                <a:latin typeface="+mn-lt"/>
                <a:cs typeface="+mn-lt"/>
              </a:rPr>
              <a:t xml:space="preserve">Where they meet</a:t>
            </a:r>
          </a:p>
        </p:txBody>
      </p:sp>
      <p:sp>
        <p:nvSpPr>
          <p:cNvPr id="16" name="Shape"/>
          <p:cNvSpPr txBox="1"/>
          <p:nvPr/>
        </p:nvSpPr>
        <p:spPr>
          <a:xfrm>
            <a:off x="8094133" y="34036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1"/>
                </a:solidFill>
                <a:latin typeface="+mn-lt"/>
                <a:cs typeface="+mn-lt"/>
              </a:rPr>
              <a:t xml:space="preserve">RET is the worked example. The same decisions, taken by hand then and by the tools now.</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3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Task 1 — RET degrader</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Choosing where the linker leaves the kinase: </a:t>
            </a:r>
            <a:r>
              <a:rPr lang="en-US" sz="2500" b="1">
                <a:solidFill>
                  <a:schemeClr val="tx1"/>
                </a:solidFill>
                <a:latin typeface="+mj-lt"/>
                <a:cs typeface="+mj-lt"/>
              </a:rPr>
              <a:t xml:space="preserve">the shortest path to solvent that avoids the moving parts</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57400"/>
            <a:ext cx="6350000" cy="6731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The hinge joins the two lobes. It is rigid, short, and faces solvent directly.</a:t>
            </a:r>
          </a:p>
        </p:txBody>
      </p:sp>
      <p:sp>
        <p:nvSpPr>
          <p:cNvPr id="8" name="Shape"/>
          <p:cNvSpPr txBox="1"/>
          <p:nvPr/>
        </p:nvSpPr>
        <p:spPr>
          <a:xfrm>
            <a:off x="711200" y="2857500"/>
            <a:ext cx="6350000" cy="95885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Distal to the hinge the linker has to cross the P-loop, the C-helix and the activation loop — the motifs that move when the kinase is regulated.</a:t>
            </a:r>
          </a:p>
        </p:txBody>
      </p:sp>
      <p:sp>
        <p:nvSpPr>
          <p:cNvPr id="9" name="Shape"/>
          <p:cNvSpPr txBox="1"/>
          <p:nvPr/>
        </p:nvSpPr>
        <p:spPr>
          <a:xfrm>
            <a:off x="711200" y="3943350"/>
            <a:ext cx="6350000" cy="6731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Hypothesis: the shortest exit that avoids those motifs forms the ternary complex faster and costs the least binary affinity.</a:t>
            </a:r>
          </a:p>
        </p:txBody>
      </p:sp>
      <p:pic>
        <p:nvPicPr>
          <p:cNvPr id="10" name="kinase" descr="RET kinase domain with N-lobe, P-loop, hinge, C-helix, activation loop and C-lobe labelled"/>
          <p:cNvPicPr>
            <a:picLocks noChangeAspect="1"/>
          </p:cNvPicPr>
          <p:nvPr/>
        </p:nvPicPr>
        <p:blipFill>
          <a:blip r:embed="rId2"/>
          <a:stretch>
            <a:fillRect/>
          </a:stretch>
        </p:blipFill>
        <p:spPr>
          <a:xfrm>
            <a:off x="8128000" y="2006600"/>
            <a:ext cx="3253994" cy="4038600"/>
          </a:xfrm>
          <a:prstGeom prst="rect">
            <a:avLst/>
          </a:prstGeom>
        </p:spPr>
      </p:pic>
      <p:sp>
        <p:nvSpPr>
          <p:cNvPr id="11" name="Shape"/>
          <p:cNvSpPr txBox="1"/>
          <p:nvPr/>
        </p:nvSpPr>
        <p:spPr>
          <a:xfrm>
            <a:off x="8128000" y="6172200"/>
            <a:ext cx="33020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Kinase domain, structural features labelled</a:t>
            </a:r>
          </a:p>
        </p:txBody>
      </p:sp>
      <p:sp>
        <p:nvSpPr>
          <p:cNvPr id="12" name="Shape"/>
          <p:cNvSpPr txBox="1"/>
          <p:nvPr/>
        </p:nvSpPr>
        <p:spPr>
          <a:xfrm>
            <a:off x="711200" y="6477000"/>
            <a:ext cx="10769600" cy="304800"/>
          </a:xfrm>
          <a:prstGeom prst="rect">
            <a:avLst/>
          </a:prstGeom>
          <a:noFill/>
          <a:ln>
            <a:noFill/>
          </a:ln>
        </p:spPr>
        <p:txBody>
          <a:bodyPr lIns="0" tIns="0" rIns="0" bIns="0" rtlCol="0" anchor="t">
            <a:noAutofit/>
          </a:bodyPr>
          <a:lstStyle/>
          <a:p>
            <a:pPr>
              <a:lnSpc>
                <a:spcPct val="130000"/>
              </a:lnSpc>
            </a:pPr>
            <a:r>
              <a:rPr lang="en-US" sz="850">
                <a:solidFill>
                  <a:schemeClr val="tx2">
                    <a:alpha val="66000"/>
                  </a:schemeClr>
                </a:solidFill>
                <a:latin typeface="+mn-lt"/>
                <a:cs typeface="+mn-lt"/>
              </a:rPr>
              <a:t xml:space="preserve">Orsi, Lazarski, Fitzgerald, Henderson et al.  RSC Med. Chem. 2025, 16, 4781–4795</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4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Task 1 — RET degrader</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Two candidate exit vectors, modelled: </a:t>
            </a:r>
            <a:r>
              <a:rPr lang="en-US" sz="2500" b="1">
                <a:solidFill>
                  <a:schemeClr val="tx1"/>
                </a:solidFill>
                <a:latin typeface="+mj-lt"/>
                <a:cs typeface="+mj-lt"/>
              </a:rPr>
              <a:t xml:space="preserve">one leaves beside the hinge, the other through the activation loop</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32000"/>
            <a:ext cx="10769600" cy="508000"/>
          </a:xfrm>
          <a:prstGeom prst="rect">
            <a:avLst/>
          </a:prstGeom>
          <a:noFill/>
          <a:ln>
            <a:noFill/>
          </a:ln>
        </p:spPr>
        <p:txBody>
          <a:bodyPr lIns="0" tIns="0" rIns="0" bIns="0" rtlCol="0" anchor="t">
            <a:normAutofit/>
          </a:bodyPr>
          <a:lstStyle/>
          <a:p>
            <a:pPr>
              <a:lnSpc>
                <a:spcPct val="145000"/>
              </a:lnSpc>
            </a:pPr>
            <a:r>
              <a:rPr lang="en-US" sz="1500">
                <a:solidFill>
                  <a:schemeClr val="tx2"/>
                </a:solidFill>
                <a:latin typeface="+mn-lt"/>
                <a:cs typeface="+mn-lt"/>
              </a:rPr>
              <a:t xml:space="preserve">The same warhead in the same ATP site, with two places for the linker to leave.</a:t>
            </a:r>
          </a:p>
        </p:txBody>
      </p:sp>
      <p:pic>
        <p:nvPicPr>
          <p:cNvPr id="8" name="sideview" descr="Side view of the monovalent ligand bound to the kinase, both candidate exit vectors marked"/>
          <p:cNvPicPr>
            <a:picLocks noChangeAspect="1"/>
          </p:cNvPicPr>
          <p:nvPr/>
        </p:nvPicPr>
        <p:blipFill>
          <a:blip r:embed="rId2"/>
          <a:stretch>
            <a:fillRect/>
          </a:stretch>
        </p:blipFill>
        <p:spPr>
          <a:xfrm>
            <a:off x="711200" y="2692400"/>
            <a:ext cx="5334000" cy="2453640"/>
          </a:xfrm>
          <a:prstGeom prst="rect">
            <a:avLst/>
          </a:prstGeom>
        </p:spPr>
      </p:pic>
      <p:sp>
        <p:nvSpPr>
          <p:cNvPr id="9" name="Shape"/>
          <p:cNvSpPr txBox="1"/>
          <p:nvPr/>
        </p:nvSpPr>
        <p:spPr>
          <a:xfrm>
            <a:off x="711200" y="5384800"/>
            <a:ext cx="53340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Side view — monovalent ligand in the ATP site, both candidate exit vectors marked</a:t>
            </a:r>
          </a:p>
        </p:txBody>
      </p:sp>
      <p:pic>
        <p:nvPicPr>
          <p:cNvPr id="10" name="tcmodel" descr="Top-down view of the modelled ternary complex: target kinase, PROTAC and E3 ligase"/>
          <p:cNvPicPr>
            <a:picLocks noChangeAspect="1"/>
          </p:cNvPicPr>
          <p:nvPr/>
        </p:nvPicPr>
        <p:blipFill>
          <a:blip r:embed="rId3"/>
          <a:stretch>
            <a:fillRect/>
          </a:stretch>
        </p:blipFill>
        <p:spPr>
          <a:xfrm>
            <a:off x="7569200" y="2616200"/>
            <a:ext cx="3810000" cy="3083433"/>
          </a:xfrm>
          <a:prstGeom prst="rect">
            <a:avLst/>
          </a:prstGeom>
        </p:spPr>
      </p:pic>
      <p:sp>
        <p:nvSpPr>
          <p:cNvPr id="11" name="Shape"/>
          <p:cNvSpPr txBox="1"/>
          <p:nvPr/>
        </p:nvSpPr>
        <p:spPr>
          <a:xfrm>
            <a:off x="7569200" y="5842000"/>
            <a:ext cx="38862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Top-down view of the modelled ternary complex</a:t>
            </a:r>
          </a:p>
        </p:txBody>
      </p:sp>
      <p:sp>
        <p:nvSpPr>
          <p:cNvPr id="12" name="Shape"/>
          <p:cNvSpPr txBox="1"/>
          <p:nvPr/>
        </p:nvSpPr>
        <p:spPr>
          <a:xfrm>
            <a:off x="711200" y="6477000"/>
            <a:ext cx="10769600" cy="304800"/>
          </a:xfrm>
          <a:prstGeom prst="rect">
            <a:avLst/>
          </a:prstGeom>
          <a:noFill/>
          <a:ln>
            <a:noFill/>
          </a:ln>
        </p:spPr>
        <p:txBody>
          <a:bodyPr lIns="0" tIns="0" rIns="0" bIns="0" rtlCol="0" anchor="t">
            <a:noAutofit/>
          </a:bodyPr>
          <a:lstStyle/>
          <a:p>
            <a:pPr>
              <a:lnSpc>
                <a:spcPct val="130000"/>
              </a:lnSpc>
            </a:pPr>
            <a:r>
              <a:rPr lang="en-US" sz="850">
                <a:solidFill>
                  <a:schemeClr val="tx2">
                    <a:alpha val="66000"/>
                  </a:schemeClr>
                </a:solidFill>
                <a:latin typeface="+mn-lt"/>
                <a:cs typeface="+mn-lt"/>
              </a:rPr>
              <a:t xml:space="preserve">Orsi, Lazarski, Fitzgerald, Henderson et al.  RSC Med. Chem. 2025, 16, 4781–4795</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5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Task 1 — target product profile</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Choosing which mutants the molecule must cover: </a:t>
            </a:r>
            <a:r>
              <a:rPr lang="en-US" sz="2500" b="1">
                <a:solidFill>
                  <a:schemeClr val="tx1"/>
                </a:solidFill>
                <a:latin typeface="+mj-lt"/>
                <a:cs typeface="+mj-lt"/>
              </a:rPr>
              <a:t xml:space="preserve">G810R is the one the inhibitors miss</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57400"/>
            <a:ext cx="6604000" cy="95885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Structural biology, biochemistry, translational biology and in vivo pharmacology read the same literature; biochemical screening and ternary-complex modelling then set the priority.</a:t>
            </a:r>
          </a:p>
        </p:txBody>
      </p:sp>
      <p:sp>
        <p:nvSpPr>
          <p:cNvPr id="8" name="Shape"/>
          <p:cNvSpPr txBox="1"/>
          <p:nvPr/>
        </p:nvSpPr>
        <p:spPr>
          <a:xfrm>
            <a:off x="711200" y="3143250"/>
            <a:ext cx="6604000" cy="6731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G810R sits on the exit vector itself — the highest risk and the highest reward in the profile.</a:t>
            </a:r>
          </a:p>
        </p:txBody>
      </p:sp>
      <p:graphicFrame>
        <p:nvGraphicFramePr>
          <p:cNvPr id="9" name="Data table"/>
          <p:cNvGraphicFramePr>
            <a:graphicFrameLocks noGrp="1"/>
          </p:cNvGraphicFramePr>
          <p:nvPr/>
        </p:nvGraphicFramePr>
        <p:xfrm>
          <a:off x="711200" y="3810000"/>
          <a:ext cx="6604000" cy="2235200"/>
        </p:xfrm>
        <a:graphic>
          <a:graphicData uri="http://schemas.openxmlformats.org/drawingml/2006/table">
            <a:tbl>
              <a:tblPr>
                <a:tableStyleId>{5C22544A-7EE6-4342-B048-85BDC9FD1C3A}</a:tableStyleId>
              </a:tblPr>
              <a:tblGrid>
                <a:gridCol w="1905000"/>
                <a:gridCol w="1651000"/>
                <a:gridCol w="1651000"/>
                <a:gridCol w="1397000"/>
              </a:tblGrid>
              <a:tr h="406400">
                <a:tc>
                  <a:txBody>
                    <a:bodyPr lIns="88900" tIns="25400" rIns="88900" bIns="63500" rtlCol="0" anchor="b">
                      <a:noAutofit/>
                    </a:bodyPr>
                    <a:lstStyle/>
                    <a:p>
                      <a:pPr algn="l">
                        <a:lnSpc>
                          <a:spcPct val="120000"/>
                        </a:lnSpc>
                      </a:pPr>
                      <a:r>
                        <a:rPr lang="en-US" sz="850" b="1" spc="70" cap="all">
                          <a:solidFill>
                            <a:schemeClr val="tx2">
                              <a:alpha val="66000"/>
                            </a:schemeClr>
                          </a:solidFill>
                          <a:latin typeface="+mn-lt"/>
                          <a:cs typeface="+mn-lt"/>
                        </a:rPr>
                        <a:t xml:space="preserve">Selpercatinib</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IC₅₀, ATP = Kₘ</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IC₅₀, ATP = 30 µM</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Kₘ (µM)</a:t>
                      </a:r>
                    </a:p>
                  </a:txBody>
                  <a:tcPr marL="88900" marR="88900" marT="25400" marB="63500" anchor="b"/>
                </a:tc>
              </a:tr>
              <a:tr h="3048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RET wild type</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 nM</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14 nM</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tc>
              </a:tr>
              <a:tr h="3048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V804L  gatekeeper</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2 nM</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0.07</a:t>
                      </a:r>
                    </a:p>
                  </a:txBody>
                  <a:tcPr marL="88900" marR="88900" marT="25400" marB="25400" anchor="ctr">
                    <a:solidFill>
                      <a:schemeClr val="tx1">
                        <a:alpha val="6000"/>
                      </a:schemeClr>
                    </a:solidFill>
                  </a:tcPr>
                </a:tc>
              </a:tr>
              <a:tr h="3048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V804M  gatekeeper</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2 nM</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24 nM</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0.44</a:t>
                      </a:r>
                    </a:p>
                  </a:txBody>
                  <a:tcPr marL="88900" marR="88900" marT="25400" marB="25400" anchor="ctr"/>
                </a:tc>
              </a:tr>
              <a:tr h="3048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A883F  C-lobe</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4 nM</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solidFill>
                      <a:schemeClr val="tx1">
                        <a:alpha val="6000"/>
                      </a:schemeClr>
                    </a:solidFill>
                  </a:tcPr>
                </a:tc>
              </a:tr>
              <a:tr h="3048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M918T  C-lobe</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2 nM</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0.45</a:t>
                      </a:r>
                    </a:p>
                  </a:txBody>
                  <a:tcPr marL="88900" marR="88900" marT="25400" marB="25400" anchor="ctr"/>
                </a:tc>
              </a:tr>
              <a:tr h="304800">
                <a:tc>
                  <a:txBody>
                    <a:bodyPr lIns="88900" tIns="25400" rIns="88900" bIns="25400" rtlCol="0" anchor="ctr">
                      <a:noAutofit/>
                    </a:bodyPr>
                    <a:lstStyle/>
                    <a:p>
                      <a:pPr algn="l">
                        <a:lnSpc>
                          <a:spcPct val="120000"/>
                        </a:lnSpc>
                      </a:pPr>
                      <a:r>
                        <a:rPr lang="en-US" sz="1050" b="1">
                          <a:solidFill>
                            <a:schemeClr val="accent1"/>
                          </a:solidFill>
                          <a:latin typeface="+mn-lt"/>
                          <a:cs typeface="+mn-lt"/>
                        </a:rPr>
                        <a:t xml:space="preserve">G810R  exit vector</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1">
                          <a:solidFill>
                            <a:schemeClr val="accent1"/>
                          </a:solidFill>
                          <a:latin typeface="+mn-lt"/>
                          <a:cs typeface="+mn-lt"/>
                        </a:rPr>
                        <a:t xml:space="preserve">530 nM</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solidFill>
                      <a:schemeClr val="tx1">
                        <a:alpha val="6000"/>
                      </a:schemeClr>
                    </a:solidFill>
                  </a:tcPr>
                </a:tc>
              </a:tr>
            </a:tbl>
          </a:graphicData>
        </a:graphic>
      </p:graphicFrame>
      <p:sp>
        <p:nvSpPr>
          <p:cNvPr id="10" name="Shape"/>
          <p:cNvSpPr/>
          <p:nvPr/>
        </p:nvSpPr>
        <p:spPr>
          <a:xfrm>
            <a:off x="711200" y="4216400"/>
            <a:ext cx="6604000" cy="12700"/>
          </a:xfrm>
          <a:prstGeom prst="rect">
            <a:avLst/>
          </a:prstGeom>
          <a:solidFill>
            <a:schemeClr val="tx1">
              <a:alpha val="16000"/>
            </a:schemeClr>
          </a:solidFill>
          <a:ln>
            <a:noFill/>
          </a:ln>
        </p:spPr>
        <p:txBody>
          <a:bodyPr/>
          <a:lstStyle/>
          <a:p/>
        </p:txBody>
      </p:sp>
      <p:pic>
        <p:nvPicPr>
          <p:cNvPr id="11" name="mutmap" descr="Selpercatinib docked into the wild-type RET X-ray structure with mutation sites marked"/>
          <p:cNvPicPr>
            <a:picLocks noChangeAspect="1"/>
          </p:cNvPicPr>
          <p:nvPr/>
        </p:nvPicPr>
        <p:blipFill>
          <a:blip r:embed="rId2"/>
          <a:stretch>
            <a:fillRect/>
          </a:stretch>
        </p:blipFill>
        <p:spPr>
          <a:xfrm>
            <a:off x="8382000" y="2159000"/>
            <a:ext cx="3048000" cy="3324479"/>
          </a:xfrm>
          <a:prstGeom prst="rect">
            <a:avLst/>
          </a:prstGeom>
        </p:spPr>
      </p:pic>
      <p:sp>
        <p:nvSpPr>
          <p:cNvPr id="12" name="Shape"/>
          <p:cNvSpPr txBox="1"/>
          <p:nvPr/>
        </p:nvSpPr>
        <p:spPr>
          <a:xfrm>
            <a:off x="8382000" y="5613400"/>
            <a:ext cx="30480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Selpercatinib docked into the wild-type RET structure, mutation sites marked</a:t>
            </a:r>
          </a:p>
        </p:txBody>
      </p:sp>
      <p:sp>
        <p:nvSpPr>
          <p:cNvPr id="13" name="Shape"/>
          <p:cNvSpPr txBox="1"/>
          <p:nvPr/>
        </p:nvSpPr>
        <p:spPr>
          <a:xfrm>
            <a:off x="711200" y="6477000"/>
            <a:ext cx="10769600" cy="304800"/>
          </a:xfrm>
          <a:prstGeom prst="rect">
            <a:avLst/>
          </a:prstGeom>
          <a:noFill/>
          <a:ln>
            <a:noFill/>
          </a:ln>
        </p:spPr>
        <p:txBody>
          <a:bodyPr lIns="0" tIns="0" rIns="0" bIns="0" rtlCol="0" anchor="t">
            <a:noAutofit/>
          </a:bodyPr>
          <a:lstStyle/>
          <a:p>
            <a:pPr>
              <a:lnSpc>
                <a:spcPct val="130000"/>
              </a:lnSpc>
            </a:pPr>
            <a:r>
              <a:rPr lang="en-US" sz="850">
                <a:solidFill>
                  <a:schemeClr val="tx2">
                    <a:alpha val="66000"/>
                  </a:schemeClr>
                </a:solidFill>
                <a:latin typeface="+mn-lt"/>
                <a:cs typeface="+mn-lt"/>
              </a:rPr>
              <a:t xml:space="preserve">Orsi, Lazarski, Fitzgerald, Henderson et al.  RSC Med. Chem. 2025, 16, 4781–4795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6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Task 1 — RET degrader</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Proximal beat distal in cells: </a:t>
            </a:r>
            <a:r>
              <a:rPr lang="en-US" sz="2500" b="1">
                <a:solidFill>
                  <a:schemeClr val="tx1"/>
                </a:solidFill>
                <a:latin typeface="+mj-lt"/>
                <a:cs typeface="+mj-lt"/>
              </a:rPr>
              <a:t xml:space="preserve">21 nM DC₅₀ against no measurable degradation</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06600"/>
            <a:ext cx="6350000" cy="533400"/>
          </a:xfrm>
          <a:prstGeom prst="rect">
            <a:avLst/>
          </a:prstGeom>
          <a:noFill/>
          <a:ln>
            <a:noFill/>
          </a:ln>
        </p:spPr>
        <p:txBody>
          <a:bodyPr lIns="0" tIns="0" rIns="0" bIns="0" rtlCol="0" anchor="t">
            <a:normAutofit/>
          </a:bodyPr>
          <a:lstStyle/>
          <a:p>
            <a:pPr>
              <a:lnSpc>
                <a:spcPct val="145000"/>
              </a:lnSpc>
            </a:pPr>
            <a:r>
              <a:rPr lang="en-US" sz="1400">
                <a:solidFill>
                  <a:schemeClr val="tx2"/>
                </a:solidFill>
                <a:latin typeface="+mn-lt"/>
                <a:cs typeface="+mn-lt"/>
              </a:rPr>
              <a:t xml:space="preserve">Same warhead, same ligase, same linker chemistry. Only the attachment point moved. Emax is protein remaining, so lower is better.</a:t>
            </a:r>
          </a:p>
        </p:txBody>
      </p:sp>
      <p:pic>
        <p:nvPicPr>
          <p:cNvPr id="8" name="distal" descr="PROTAC with the exit vector distal to the hinge"/>
          <p:cNvPicPr>
            <a:picLocks noChangeAspect="1"/>
          </p:cNvPicPr>
          <p:nvPr/>
        </p:nvPicPr>
        <p:blipFill>
          <a:blip r:embed="rId2"/>
          <a:stretch>
            <a:fillRect/>
          </a:stretch>
        </p:blipFill>
        <p:spPr>
          <a:xfrm>
            <a:off x="711200" y="2590800"/>
            <a:ext cx="3124835" cy="1841500"/>
          </a:xfrm>
          <a:prstGeom prst="rect">
            <a:avLst/>
          </a:prstGeom>
        </p:spPr>
      </p:pic>
      <p:sp>
        <p:nvSpPr>
          <p:cNvPr id="9" name="Shape"/>
          <p:cNvSpPr txBox="1"/>
          <p:nvPr/>
        </p:nvSpPr>
        <p:spPr>
          <a:xfrm>
            <a:off x="4191000" y="3149600"/>
            <a:ext cx="2667000" cy="660400"/>
          </a:xfrm>
          <a:prstGeom prst="rect">
            <a:avLst/>
          </a:prstGeom>
          <a:noFill/>
          <a:ln>
            <a:noFill/>
          </a:ln>
        </p:spPr>
        <p:txBody>
          <a:bodyPr lIns="0" tIns="0" rIns="0" bIns="0" rtlCol="0" anchor="t">
            <a:normAutofit/>
          </a:bodyPr>
          <a:lstStyle/>
          <a:p>
            <a:pPr>
              <a:lnSpc>
                <a:spcPct val="140000"/>
              </a:lnSpc>
            </a:pPr>
            <a:r>
              <a:rPr lang="en-US" sz="900" b="1" spc="90" cap="all">
                <a:solidFill>
                  <a:schemeClr val="tx2">
                    <a:alpha val="66000"/>
                  </a:schemeClr>
                </a:solidFill>
                <a:latin typeface="+mn-lt"/>
                <a:cs typeface="+mn-lt"/>
              </a:rPr>
              <a:t xml:space="preserve">Distal to hinge</a:t>
            </a:r>
          </a:p>
          <a:p>
            <a:pPr>
              <a:lnSpc>
                <a:spcPct val="140000"/>
              </a:lnSpc>
            </a:pPr>
            <a:r>
              <a:rPr lang="en-US" sz="1300" b="1">
                <a:solidFill>
                  <a:schemeClr val="tx2"/>
                </a:solidFill>
                <a:latin typeface="+mn-lt"/>
                <a:cs typeface="+mn-lt"/>
              </a:rPr>
              <a:t xml:space="preserve">NA / 185 nM IP / 61% Emax</a:t>
            </a:r>
          </a:p>
        </p:txBody>
      </p:sp>
      <p:pic>
        <p:nvPicPr>
          <p:cNvPr id="10" name="proximal" descr="PROTAC with the exit vector proximal to the hinge"/>
          <p:cNvPicPr>
            <a:picLocks noChangeAspect="1"/>
          </p:cNvPicPr>
          <p:nvPr/>
        </p:nvPicPr>
        <p:blipFill>
          <a:blip r:embed="rId3"/>
          <a:stretch>
            <a:fillRect/>
          </a:stretch>
        </p:blipFill>
        <p:spPr>
          <a:xfrm>
            <a:off x="711200" y="4597400"/>
            <a:ext cx="3103118" cy="1841500"/>
          </a:xfrm>
          <a:prstGeom prst="rect">
            <a:avLst/>
          </a:prstGeom>
        </p:spPr>
      </p:pic>
      <p:sp>
        <p:nvSpPr>
          <p:cNvPr id="11" name="Shape"/>
          <p:cNvSpPr txBox="1"/>
          <p:nvPr/>
        </p:nvSpPr>
        <p:spPr>
          <a:xfrm>
            <a:off x="4191000" y="5156200"/>
            <a:ext cx="2667000" cy="660400"/>
          </a:xfrm>
          <a:prstGeom prst="rect">
            <a:avLst/>
          </a:prstGeom>
          <a:noFill/>
          <a:ln>
            <a:noFill/>
          </a:ln>
        </p:spPr>
        <p:txBody>
          <a:bodyPr lIns="0" tIns="0" rIns="0" bIns="0" rtlCol="0" anchor="t">
            <a:normAutofit/>
          </a:bodyPr>
          <a:lstStyle/>
          <a:p>
            <a:pPr>
              <a:lnSpc>
                <a:spcPct val="140000"/>
              </a:lnSpc>
            </a:pPr>
            <a:r>
              <a:rPr lang="en-US" sz="900" b="1" spc="90" cap="all">
                <a:solidFill>
                  <a:schemeClr val="accent1"/>
                </a:solidFill>
                <a:latin typeface="+mn-lt"/>
                <a:cs typeface="+mn-lt"/>
              </a:rPr>
              <a:t xml:space="preserve">Proximal to hinge</a:t>
            </a:r>
          </a:p>
          <a:p>
            <a:pPr>
              <a:lnSpc>
                <a:spcPct val="140000"/>
              </a:lnSpc>
            </a:pPr>
            <a:r>
              <a:rPr lang="en-US" sz="1300" b="1">
                <a:solidFill>
                  <a:schemeClr val="tx1"/>
                </a:solidFill>
                <a:latin typeface="+mn-lt"/>
                <a:cs typeface="+mn-lt"/>
              </a:rPr>
              <a:t xml:space="preserve">21 nM DC₅₀ / 20 nM IP / 24% Emax</a:t>
            </a:r>
          </a:p>
        </p:txBody>
      </p:sp>
      <p:pic>
        <p:nvPicPr>
          <p:cNvPr id="12" name="tcmodel" descr="Top-down ternary complex model with both exit vectors marked"/>
          <p:cNvPicPr>
            <a:picLocks noChangeAspect="1"/>
          </p:cNvPicPr>
          <p:nvPr/>
        </p:nvPicPr>
        <p:blipFill>
          <a:blip r:embed="rId4"/>
          <a:stretch>
            <a:fillRect/>
          </a:stretch>
        </p:blipFill>
        <p:spPr>
          <a:xfrm>
            <a:off x="7569200" y="2489200"/>
            <a:ext cx="3810000" cy="3083433"/>
          </a:xfrm>
          <a:prstGeom prst="rect">
            <a:avLst/>
          </a:prstGeom>
        </p:spPr>
      </p:pic>
      <p:sp>
        <p:nvSpPr>
          <p:cNvPr id="13" name="Shape"/>
          <p:cNvSpPr txBox="1"/>
          <p:nvPr/>
        </p:nvSpPr>
        <p:spPr>
          <a:xfrm>
            <a:off x="7569200" y="5740400"/>
            <a:ext cx="38100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Both candidate vectors on the modelled complex</a:t>
            </a:r>
          </a:p>
        </p:txBody>
      </p:sp>
      <p:sp>
        <p:nvSpPr>
          <p:cNvPr id="14" name="Shape"/>
          <p:cNvSpPr txBox="1"/>
          <p:nvPr/>
        </p:nvSpPr>
        <p:spPr>
          <a:xfrm>
            <a:off x="711200" y="6477000"/>
            <a:ext cx="10769600" cy="304800"/>
          </a:xfrm>
          <a:prstGeom prst="rect">
            <a:avLst/>
          </a:prstGeom>
          <a:noFill/>
          <a:ln>
            <a:noFill/>
          </a:ln>
        </p:spPr>
        <p:txBody>
          <a:bodyPr lIns="0" tIns="0" rIns="0" bIns="0" rtlCol="0" anchor="t">
            <a:noAutofit/>
          </a:bodyPr>
          <a:lstStyle/>
          <a:p>
            <a:pPr>
              <a:lnSpc>
                <a:spcPct val="130000"/>
              </a:lnSpc>
            </a:pPr>
            <a:r>
              <a:rPr lang="en-US" sz="850">
                <a:solidFill>
                  <a:schemeClr val="tx2">
                    <a:alpha val="66000"/>
                  </a:schemeClr>
                </a:solidFill>
                <a:latin typeface="+mn-lt"/>
                <a:cs typeface="+mn-lt"/>
              </a:rPr>
              <a:t xml:space="preserve">Orsi, Lazarski, Fitzgerald, Henderson et al.  RSC Med. Chem. 2025, 16, 4781–4795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7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Task 1 — published series</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The published series starts at compound 15: </a:t>
            </a:r>
            <a:r>
              <a:rPr lang="en-US" sz="2500" b="1">
                <a:solidFill>
                  <a:schemeClr val="tx1"/>
                </a:solidFill>
                <a:latin typeface="+mj-lt"/>
                <a:cs typeface="+mj-lt"/>
              </a:rPr>
              <a:t xml:space="preserve">potent on RET, with no oral exposure</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57400"/>
            <a:ext cx="4191000" cy="1168400"/>
          </a:xfrm>
          <a:prstGeom prst="rect">
            <a:avLst/>
          </a:prstGeom>
          <a:noFill/>
          <a:ln>
            <a:noFill/>
          </a:ln>
        </p:spPr>
        <p:txBody>
          <a:bodyPr lIns="0" tIns="0" rIns="0" bIns="0" rtlCol="0" anchor="t">
            <a:normAutofit/>
          </a:bodyPr>
          <a:lstStyle/>
          <a:p>
            <a:pPr>
              <a:lnSpc>
                <a:spcPct val="150000"/>
              </a:lnSpc>
            </a:pPr>
            <a:r>
              <a:rPr lang="en-US" sz="1400">
                <a:solidFill>
                  <a:schemeClr val="tx2"/>
                </a:solidFill>
                <a:latin typeface="+mn-lt"/>
                <a:cs typeface="+mn-lt"/>
              </a:rPr>
              <a:t xml:space="preserve">Point mutations and fusions both drive constitutive activation, so degradation offers pan-mutant and pan-fusion pharmacology with better kinome selectivity.</a:t>
            </a:r>
          </a:p>
        </p:txBody>
      </p:sp>
      <p:sp>
        <p:nvSpPr>
          <p:cNvPr id="8" name="Shape"/>
          <p:cNvSpPr txBox="1"/>
          <p:nvPr/>
        </p:nvSpPr>
        <p:spPr>
          <a:xfrm>
            <a:off x="711200" y="3352800"/>
            <a:ext cx="4191000" cy="635000"/>
          </a:xfrm>
          <a:prstGeom prst="rect">
            <a:avLst/>
          </a:prstGeom>
          <a:noFill/>
          <a:ln>
            <a:noFill/>
          </a:ln>
        </p:spPr>
        <p:txBody>
          <a:bodyPr lIns="0" tIns="0" rIns="0" bIns="0" rtlCol="0" anchor="t">
            <a:normAutofit/>
          </a:bodyPr>
          <a:lstStyle/>
          <a:p>
            <a:pPr>
              <a:lnSpc>
                <a:spcPct val="150000"/>
              </a:lnSpc>
            </a:pPr>
            <a:r>
              <a:rPr lang="en-US" sz="1400">
                <a:solidFill>
                  <a:schemeClr val="tx2"/>
                </a:solidFill>
                <a:latin typeface="+mn-lt"/>
                <a:cs typeface="+mn-lt"/>
              </a:rPr>
              <a:t xml:space="preserve">G810R is where second-line inhibitors lose potency.</a:t>
            </a:r>
          </a:p>
        </p:txBody>
      </p:sp>
      <p:sp>
        <p:nvSpPr>
          <p:cNvPr id="9" name="Shape"/>
          <p:cNvSpPr txBox="1"/>
          <p:nvPr/>
        </p:nvSpPr>
        <p:spPr>
          <a:xfrm>
            <a:off x="711200" y="4114800"/>
            <a:ext cx="4191000" cy="368300"/>
          </a:xfrm>
          <a:prstGeom prst="rect">
            <a:avLst/>
          </a:prstGeom>
          <a:noFill/>
          <a:ln>
            <a:noFill/>
          </a:ln>
        </p:spPr>
        <p:txBody>
          <a:bodyPr lIns="0" tIns="0" rIns="0" bIns="0" rtlCol="0" anchor="t">
            <a:normAutofit/>
          </a:bodyPr>
          <a:lstStyle/>
          <a:p>
            <a:pPr>
              <a:lnSpc>
                <a:spcPct val="150000"/>
              </a:lnSpc>
            </a:pPr>
            <a:r>
              <a:rPr lang="en-US" sz="1400">
                <a:solidFill>
                  <a:schemeClr val="tx2"/>
                </a:solidFill>
                <a:latin typeface="+mn-lt"/>
                <a:cs typeface="+mn-lt"/>
              </a:rPr>
              <a:t xml:space="preserve">VEGFR2 is the high-homology anti-target.</a:t>
            </a:r>
          </a:p>
        </p:txBody>
      </p:sp>
      <p:pic>
        <p:nvPicPr>
          <p:cNvPr id="10" name="scaffold" descr="Compound 15 scaffold with the linker shown as a labelled box"/>
          <p:cNvPicPr>
            <a:picLocks noChangeAspect="1"/>
          </p:cNvPicPr>
          <p:nvPr/>
        </p:nvPicPr>
        <p:blipFill>
          <a:blip r:embed="rId2"/>
          <a:stretch>
            <a:fillRect/>
          </a:stretch>
        </p:blipFill>
        <p:spPr>
          <a:xfrm>
            <a:off x="5334000" y="2057400"/>
            <a:ext cx="6096000" cy="1517650"/>
          </a:xfrm>
          <a:prstGeom prst="rect">
            <a:avLst/>
          </a:prstGeom>
        </p:spPr>
      </p:pic>
      <p:sp>
        <p:nvSpPr>
          <p:cNvPr id="11" name="Shape"/>
          <p:cNvSpPr txBox="1"/>
          <p:nvPr/>
        </p:nvSpPr>
        <p:spPr>
          <a:xfrm>
            <a:off x="5334000" y="3784600"/>
            <a:ext cx="3048000" cy="203200"/>
          </a:xfrm>
          <a:prstGeom prst="rect">
            <a:avLst/>
          </a:prstGeom>
          <a:noFill/>
          <a:ln>
            <a:noFill/>
          </a:ln>
        </p:spPr>
        <p:txBody>
          <a:bodyPr lIns="0" tIns="0" rIns="0" bIns="0" rtlCol="0" anchor="t">
            <a:noAutofit/>
          </a:bodyPr>
          <a:lstStyle/>
          <a:p>
            <a:r>
              <a:rPr lang="en-US" sz="900" b="1" spc="90" cap="all">
                <a:solidFill>
                  <a:schemeClr val="tx2">
                    <a:alpha val="66000"/>
                  </a:schemeClr>
                </a:solidFill>
                <a:latin typeface="+mn-lt"/>
                <a:cs typeface="+mn-lt"/>
              </a:rPr>
              <a:t xml:space="preserve">Linker, compound 15   X = C</a:t>
            </a:r>
          </a:p>
        </p:txBody>
      </p:sp>
      <p:pic>
        <p:nvPicPr>
          <p:cNvPr id="12" name="linker15" descr="Linker of compound 15"/>
          <p:cNvPicPr>
            <a:picLocks noChangeAspect="1"/>
          </p:cNvPicPr>
          <p:nvPr/>
        </p:nvPicPr>
        <p:blipFill>
          <a:blip r:embed="rId3"/>
          <a:stretch>
            <a:fillRect/>
          </a:stretch>
        </p:blipFill>
        <p:spPr>
          <a:xfrm>
            <a:off x="5334000" y="4013200"/>
            <a:ext cx="2430145" cy="1143000"/>
          </a:xfrm>
          <a:prstGeom prst="rect">
            <a:avLst/>
          </a:prstGeom>
        </p:spPr>
      </p:pic>
      <p:graphicFrame>
        <p:nvGraphicFramePr>
          <p:cNvPr id="13" name="Data table"/>
          <p:cNvGraphicFramePr>
            <a:graphicFrameLocks noGrp="1"/>
          </p:cNvGraphicFramePr>
          <p:nvPr/>
        </p:nvGraphicFramePr>
        <p:xfrm>
          <a:off x="711200" y="5486400"/>
          <a:ext cx="10769600" cy="660400"/>
        </p:xfrm>
        <a:graphic>
          <a:graphicData uri="http://schemas.openxmlformats.org/drawingml/2006/table">
            <a:tbl>
              <a:tblPr>
                <a:tableStyleId>{5C22544A-7EE6-4342-B048-85BDC9FD1C3A}</a:tableStyleId>
              </a:tblPr>
              <a:tblGrid>
                <a:gridCol w="1092200"/>
                <a:gridCol w="1549400"/>
                <a:gridCol w="1676400"/>
                <a:gridCol w="1320800"/>
                <a:gridCol w="1727200"/>
                <a:gridCol w="1219200"/>
                <a:gridCol w="1219200"/>
                <a:gridCol w="965200"/>
              </a:tblGrid>
              <a:tr h="381000">
                <a:tc>
                  <a:txBody>
                    <a:bodyPr lIns="88900" tIns="25400" rIns="88900" bIns="63500" rtlCol="0" anchor="b">
                      <a:noAutofit/>
                    </a:bodyPr>
                    <a:lstStyle/>
                    <a:p>
                      <a:pPr algn="l">
                        <a:lnSpc>
                          <a:spcPct val="120000"/>
                        </a:lnSpc>
                      </a:pPr>
                      <a:r>
                        <a:rPr lang="en-US" sz="850" b="1" spc="70" cap="all">
                          <a:solidFill>
                            <a:schemeClr val="tx2">
                              <a:alpha val="66000"/>
                            </a:schemeClr>
                          </a:solidFill>
                          <a:latin typeface="+mn-lt"/>
                          <a:cs typeface="+mn-lt"/>
                        </a:rPr>
                        <a:t xml:space="preserve">Cpd</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RET KD  DC₅₀ / Emax</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G810R  DC₅₀ / Emax</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RET-WT  IC₅₀</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pVEGFR2  IC₅₀ / Emax</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CL  mL/min/kg</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PO AUC  ng·h/mL</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F</a:t>
                      </a:r>
                    </a:p>
                  </a:txBody>
                  <a:tcPr marL="88900" marR="88900" marT="25400" marB="63500" anchor="b"/>
                </a:tc>
              </a:tr>
              <a:tr h="2794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15</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5 nM / 23%</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103 nM / 37%</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43.6 nM</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&gt;10 µM / 61%</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tc>
              </a:tr>
            </a:tbl>
          </a:graphicData>
        </a:graphic>
      </p:graphicFrame>
      <p:sp>
        <p:nvSpPr>
          <p:cNvPr id="14" name="Shape"/>
          <p:cNvSpPr/>
          <p:nvPr/>
        </p:nvSpPr>
        <p:spPr>
          <a:xfrm>
            <a:off x="711200" y="5867400"/>
            <a:ext cx="10769600" cy="12700"/>
          </a:xfrm>
          <a:prstGeom prst="rect">
            <a:avLst/>
          </a:prstGeom>
          <a:solidFill>
            <a:schemeClr val="tx1">
              <a:alpha val="16000"/>
            </a:schemeClr>
          </a:solidFill>
          <a:ln>
            <a:noFill/>
          </a:ln>
        </p:spPr>
        <p:txBody>
          <a:bodyPr/>
          <a:lstStyle/>
          <a:p/>
        </p:txBody>
      </p:sp>
      <p:sp>
        <p:nvSpPr>
          <p:cNvPr id="15" name="Shape"/>
          <p:cNvSpPr txBox="1"/>
          <p:nvPr/>
        </p:nvSpPr>
        <p:spPr>
          <a:xfrm>
            <a:off x="711200" y="6477000"/>
            <a:ext cx="10769600" cy="304800"/>
          </a:xfrm>
          <a:prstGeom prst="rect">
            <a:avLst/>
          </a:prstGeom>
          <a:noFill/>
          <a:ln>
            <a:noFill/>
          </a:ln>
        </p:spPr>
        <p:txBody>
          <a:bodyPr lIns="0" tIns="0" rIns="0" bIns="0" rtlCol="0" anchor="t">
            <a:noAutofit/>
          </a:bodyPr>
          <a:lstStyle/>
          <a:p>
            <a:pPr>
              <a:lnSpc>
                <a:spcPct val="130000"/>
              </a:lnSpc>
            </a:pPr>
            <a:r>
              <a:rPr lang="en-US" sz="850">
                <a:solidFill>
                  <a:schemeClr val="tx2">
                    <a:alpha val="66000"/>
                  </a:schemeClr>
                </a:solidFill>
                <a:latin typeface="+mn-lt"/>
                <a:cs typeface="+mn-lt"/>
              </a:rPr>
              <a:t xml:space="preserve">Orsi, Lazarski, Fitzgerald, Henderson et al.  RSC Med. Chem. 2025, 16, 4781–4795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8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Task 1 — published series</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Two changes, two problems: </a:t>
            </a:r>
            <a:r>
              <a:rPr lang="en-US" sz="2500" b="1">
                <a:solidFill>
                  <a:schemeClr val="tx1"/>
                </a:solidFill>
                <a:latin typeface="+mj-lt"/>
                <a:cs typeface="+mj-lt"/>
              </a:rPr>
              <a:t xml:space="preserve">the exit-vector angle, then the basicity of the linker</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57400"/>
            <a:ext cx="10769600" cy="368300"/>
          </a:xfrm>
          <a:prstGeom prst="rect">
            <a:avLst/>
          </a:prstGeom>
          <a:noFill/>
          <a:ln>
            <a:noFill/>
          </a:ln>
        </p:spPr>
        <p:txBody>
          <a:bodyPr lIns="0" tIns="0" rIns="0" bIns="0" rtlCol="0" anchor="t">
            <a:normAutofit/>
          </a:bodyPr>
          <a:lstStyle/>
          <a:p>
            <a:pPr>
              <a:lnSpc>
                <a:spcPct val="150000"/>
              </a:lnSpc>
            </a:pPr>
            <a:r>
              <a:rPr lang="en-US" sz="1400">
                <a:solidFill>
                  <a:schemeClr val="tx2"/>
                </a:solidFill>
                <a:latin typeface="+mn-lt"/>
                <a:cs typeface="+mn-lt"/>
              </a:rPr>
              <a:t xml:space="preserve">15 → 16.  Narrowing the exit-vector angle from 180° to 144° improved binary binding, and degradation with it.</a:t>
            </a:r>
          </a:p>
        </p:txBody>
      </p:sp>
      <p:sp>
        <p:nvSpPr>
          <p:cNvPr id="8" name="Shape"/>
          <p:cNvSpPr txBox="1"/>
          <p:nvPr/>
        </p:nvSpPr>
        <p:spPr>
          <a:xfrm>
            <a:off x="711200" y="2552700"/>
            <a:ext cx="10769600" cy="635000"/>
          </a:xfrm>
          <a:prstGeom prst="rect">
            <a:avLst/>
          </a:prstGeom>
          <a:noFill/>
          <a:ln>
            <a:noFill/>
          </a:ln>
        </p:spPr>
        <p:txBody>
          <a:bodyPr lIns="0" tIns="0" rIns="0" bIns="0" rtlCol="0" anchor="t">
            <a:normAutofit/>
          </a:bodyPr>
          <a:lstStyle/>
          <a:p>
            <a:pPr>
              <a:lnSpc>
                <a:spcPct val="150000"/>
              </a:lnSpc>
            </a:pPr>
            <a:r>
              <a:rPr lang="en-US" sz="1400">
                <a:solidFill>
                  <a:schemeClr val="tx2"/>
                </a:solidFill>
                <a:latin typeface="+mn-lt"/>
                <a:cs typeface="+mn-lt"/>
              </a:rPr>
              <a:t xml:space="preserve">16 → 17.  Lowering basicity and buried surface area cut clearance and raised permeability: bioavailability moved from 0.9% to 18%.</a:t>
            </a:r>
          </a:p>
        </p:txBody>
      </p:sp>
      <p:pic>
        <p:nvPicPr>
          <p:cNvPr id="9" name="linker17" descr="Linker variants for compounds 15, 16 and 17"/>
          <p:cNvPicPr>
            <a:picLocks noChangeAspect="1"/>
          </p:cNvPicPr>
          <p:nvPr/>
        </p:nvPicPr>
        <p:blipFill>
          <a:blip r:embed="rId2"/>
          <a:stretch>
            <a:fillRect/>
          </a:stretch>
        </p:blipFill>
        <p:spPr>
          <a:xfrm>
            <a:off x="711200" y="3200400"/>
            <a:ext cx="10769600" cy="1048766"/>
          </a:xfrm>
          <a:prstGeom prst="rect">
            <a:avLst/>
          </a:prstGeom>
        </p:spPr>
      </p:pic>
      <p:sp>
        <p:nvSpPr>
          <p:cNvPr id="10" name="Shape"/>
          <p:cNvSpPr txBox="1"/>
          <p:nvPr/>
        </p:nvSpPr>
        <p:spPr>
          <a:xfrm>
            <a:off x="711200" y="4419600"/>
            <a:ext cx="71120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Linkers of compounds 15, 16 and 17</a:t>
            </a:r>
          </a:p>
        </p:txBody>
      </p:sp>
      <p:graphicFrame>
        <p:nvGraphicFramePr>
          <p:cNvPr id="11" name="Data table"/>
          <p:cNvGraphicFramePr>
            <a:graphicFrameLocks noGrp="1"/>
          </p:cNvGraphicFramePr>
          <p:nvPr/>
        </p:nvGraphicFramePr>
        <p:xfrm>
          <a:off x="711200" y="4876800"/>
          <a:ext cx="10769600" cy="1219200"/>
        </p:xfrm>
        <a:graphic>
          <a:graphicData uri="http://schemas.openxmlformats.org/drawingml/2006/table">
            <a:tbl>
              <a:tblPr>
                <a:tableStyleId>{5C22544A-7EE6-4342-B048-85BDC9FD1C3A}</a:tableStyleId>
              </a:tblPr>
              <a:tblGrid>
                <a:gridCol w="1092200"/>
                <a:gridCol w="1549400"/>
                <a:gridCol w="1676400"/>
                <a:gridCol w="1320800"/>
                <a:gridCol w="1727200"/>
                <a:gridCol w="1219200"/>
                <a:gridCol w="1219200"/>
                <a:gridCol w="965200"/>
              </a:tblGrid>
              <a:tr h="381000">
                <a:tc>
                  <a:txBody>
                    <a:bodyPr lIns="88900" tIns="25400" rIns="88900" bIns="63500" rtlCol="0" anchor="b">
                      <a:noAutofit/>
                    </a:bodyPr>
                    <a:lstStyle/>
                    <a:p>
                      <a:pPr algn="l">
                        <a:lnSpc>
                          <a:spcPct val="120000"/>
                        </a:lnSpc>
                      </a:pPr>
                      <a:r>
                        <a:rPr lang="en-US" sz="850" b="1" spc="70" cap="all">
                          <a:solidFill>
                            <a:schemeClr val="tx2">
                              <a:alpha val="66000"/>
                            </a:schemeClr>
                          </a:solidFill>
                          <a:latin typeface="+mn-lt"/>
                          <a:cs typeface="+mn-lt"/>
                        </a:rPr>
                        <a:t xml:space="preserve">Cpd</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RET KD  DC₅₀ / Emax</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G810R  DC₅₀ / Emax</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RET-WT  IC₅₀</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pVEGFR2  IC₅₀ / Emax</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CL  mL/min/kg</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PO AUC  ng·h/mL</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F</a:t>
                      </a:r>
                    </a:p>
                  </a:txBody>
                  <a:tcPr marL="88900" marR="88900" marT="25400" marB="63500" anchor="b"/>
                </a:tc>
              </a:tr>
              <a:tr h="2794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15</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5 nM / 23%</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103 nM / 37%</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43.6 nM</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&gt;10 µM / 61%</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tc>
              </a:tr>
              <a:tr h="2794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16</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1.9 nM / 13%</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24 nM / 24%</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9 nM</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1162 nM / 30%</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31</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8.09</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0.88%</a:t>
                      </a:r>
                    </a:p>
                  </a:txBody>
                  <a:tcPr marL="88900" marR="88900" marT="25400" marB="25400" anchor="ctr">
                    <a:solidFill>
                      <a:schemeClr val="tx1">
                        <a:alpha val="6000"/>
                      </a:schemeClr>
                    </a:solidFill>
                  </a:tcPr>
                </a:tc>
              </a:tr>
              <a:tr h="279400">
                <a:tc>
                  <a:txBody>
                    <a:bodyPr lIns="88900" tIns="25400" rIns="88900" bIns="25400" rtlCol="0" anchor="ctr">
                      <a:noAutofit/>
                    </a:bodyPr>
                    <a:lstStyle/>
                    <a:p>
                      <a:pPr algn="l">
                        <a:lnSpc>
                          <a:spcPct val="120000"/>
                        </a:lnSpc>
                      </a:pPr>
                      <a:r>
                        <a:rPr lang="en-US" sz="1050" b="1">
                          <a:solidFill>
                            <a:schemeClr val="accent1"/>
                          </a:solidFill>
                          <a:latin typeface="+mn-lt"/>
                          <a:cs typeface="+mn-lt"/>
                        </a:rPr>
                        <a:t xml:space="preserve">17</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1.8 nM / 13%</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19 nM / 21%</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3.5 nM</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671 nM / 17%</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16</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181</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18%</a:t>
                      </a:r>
                    </a:p>
                  </a:txBody>
                  <a:tcPr marL="88900" marR="88900" marT="25400" marB="25400" anchor="ctr"/>
                </a:tc>
              </a:tr>
            </a:tbl>
          </a:graphicData>
        </a:graphic>
      </p:graphicFrame>
      <p:sp>
        <p:nvSpPr>
          <p:cNvPr id="12" name="Shape"/>
          <p:cNvSpPr/>
          <p:nvPr/>
        </p:nvSpPr>
        <p:spPr>
          <a:xfrm>
            <a:off x="711200" y="5257800"/>
            <a:ext cx="10769600" cy="12700"/>
          </a:xfrm>
          <a:prstGeom prst="rect">
            <a:avLst/>
          </a:prstGeom>
          <a:solidFill>
            <a:schemeClr val="tx1">
              <a:alpha val="16000"/>
            </a:schemeClr>
          </a:solidFill>
          <a:ln>
            <a:noFill/>
          </a:ln>
        </p:spPr>
        <p:txBody>
          <a:bodyPr/>
          <a:lstStyle/>
          <a:p/>
        </p:txBody>
      </p:sp>
      <p:sp>
        <p:nvSpPr>
          <p:cNvPr id="13" name="Shape"/>
          <p:cNvSpPr txBox="1"/>
          <p:nvPr/>
        </p:nvSpPr>
        <p:spPr>
          <a:xfrm>
            <a:off x="711200" y="6477000"/>
            <a:ext cx="10769600" cy="304800"/>
          </a:xfrm>
          <a:prstGeom prst="rect">
            <a:avLst/>
          </a:prstGeom>
          <a:noFill/>
          <a:ln>
            <a:noFill/>
          </a:ln>
        </p:spPr>
        <p:txBody>
          <a:bodyPr lIns="0" tIns="0" rIns="0" bIns="0" rtlCol="0" anchor="t">
            <a:noAutofit/>
          </a:bodyPr>
          <a:lstStyle/>
          <a:p>
            <a:pPr>
              <a:lnSpc>
                <a:spcPct val="130000"/>
              </a:lnSpc>
            </a:pPr>
            <a:r>
              <a:rPr lang="en-US" sz="850">
                <a:solidFill>
                  <a:schemeClr val="tx2">
                    <a:alpha val="66000"/>
                  </a:schemeClr>
                </a:solidFill>
                <a:latin typeface="+mn-lt"/>
                <a:cs typeface="+mn-lt"/>
              </a:rPr>
              <a:t xml:space="preserve">Orsi, Lazarski, Fitzgerald, Henderson et al.  RSC Med. Chem. 2025, 16, 4781–4795</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9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Task 1 — published series</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Why the property change worked: </a:t>
            </a:r>
            <a:r>
              <a:rPr lang="en-US" sz="2500" b="1">
                <a:solidFill>
                  <a:schemeClr val="tx1"/>
                </a:solidFill>
                <a:latin typeface="+mj-lt"/>
                <a:cs typeface="+mj-lt"/>
              </a:rPr>
              <a:t xml:space="preserve">the molecule folds in on itself once the solvent is gone</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06600"/>
            <a:ext cx="10769600" cy="533400"/>
          </a:xfrm>
          <a:prstGeom prst="rect">
            <a:avLst/>
          </a:prstGeom>
          <a:noFill/>
          <a:ln>
            <a:noFill/>
          </a:ln>
        </p:spPr>
        <p:txBody>
          <a:bodyPr lIns="0" tIns="0" rIns="0" bIns="0" rtlCol="0" anchor="t">
            <a:normAutofit/>
          </a:bodyPr>
          <a:lstStyle/>
          <a:p>
            <a:pPr>
              <a:lnSpc>
                <a:spcPct val="145000"/>
              </a:lnSpc>
            </a:pPr>
            <a:r>
              <a:rPr lang="en-US" sz="1400">
                <a:solidFill>
                  <a:schemeClr val="tx2"/>
                </a:solidFill>
                <a:latin typeface="+mn-lt"/>
                <a:cs typeface="+mn-lt"/>
              </a:rPr>
              <a:t xml:space="preserve">Conformers from a molecular dynamics ensemble, plotted as solvent-accessible surface area against relative energy. Compound 17 reaches compact conformations that 16 does not.</a:t>
            </a:r>
          </a:p>
        </p:txBody>
      </p:sp>
      <p:pic>
        <p:nvPicPr>
          <p:cNvPr id="8" name="sasa16" descr="SASA against relative potential energy for compound 16"/>
          <p:cNvPicPr>
            <a:picLocks noChangeAspect="1"/>
          </p:cNvPicPr>
          <p:nvPr/>
        </p:nvPicPr>
        <p:blipFill>
          <a:blip r:embed="rId2"/>
          <a:stretch>
            <a:fillRect/>
          </a:stretch>
        </p:blipFill>
        <p:spPr>
          <a:xfrm>
            <a:off x="1117600" y="2463800"/>
            <a:ext cx="4064000" cy="3432683"/>
          </a:xfrm>
          <a:prstGeom prst="rect">
            <a:avLst/>
          </a:prstGeom>
        </p:spPr>
      </p:pic>
      <p:sp>
        <p:nvSpPr>
          <p:cNvPr id="9" name="Shape"/>
          <p:cNvSpPr txBox="1"/>
          <p:nvPr/>
        </p:nvSpPr>
        <p:spPr>
          <a:xfrm>
            <a:off x="1117600" y="5994400"/>
            <a:ext cx="40640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Compound 16</a:t>
            </a:r>
          </a:p>
        </p:txBody>
      </p:sp>
      <p:pic>
        <p:nvPicPr>
          <p:cNvPr id="10" name="sasa17" descr="SASA against relative potential energy for compound 17"/>
          <p:cNvPicPr>
            <a:picLocks noChangeAspect="1"/>
          </p:cNvPicPr>
          <p:nvPr/>
        </p:nvPicPr>
        <p:blipFill>
          <a:blip r:embed="rId3"/>
          <a:stretch>
            <a:fillRect/>
          </a:stretch>
        </p:blipFill>
        <p:spPr>
          <a:xfrm>
            <a:off x="6299200" y="2463800"/>
            <a:ext cx="4038600" cy="3423031"/>
          </a:xfrm>
          <a:prstGeom prst="rect">
            <a:avLst/>
          </a:prstGeom>
        </p:spPr>
      </p:pic>
      <p:sp>
        <p:nvSpPr>
          <p:cNvPr id="11" name="Shape"/>
          <p:cNvSpPr txBox="1"/>
          <p:nvPr/>
        </p:nvSpPr>
        <p:spPr>
          <a:xfrm>
            <a:off x="6299200" y="5994400"/>
            <a:ext cx="45720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Compound 17 — a low-SASA population appears</a:t>
            </a:r>
          </a:p>
        </p:txBody>
      </p:sp>
      <p:sp>
        <p:nvSpPr>
          <p:cNvPr id="12" name="Shape"/>
          <p:cNvSpPr txBox="1"/>
          <p:nvPr/>
        </p:nvSpPr>
        <p:spPr>
          <a:xfrm>
            <a:off x="711200" y="6477000"/>
            <a:ext cx="10769600" cy="304800"/>
          </a:xfrm>
          <a:prstGeom prst="rect">
            <a:avLst/>
          </a:prstGeom>
          <a:noFill/>
          <a:ln>
            <a:noFill/>
          </a:ln>
        </p:spPr>
        <p:txBody>
          <a:bodyPr lIns="0" tIns="0" rIns="0" bIns="0" rtlCol="0" anchor="t">
            <a:noAutofit/>
          </a:bodyPr>
          <a:lstStyle/>
          <a:p>
            <a:pPr>
              <a:lnSpc>
                <a:spcPct val="130000"/>
              </a:lnSpc>
            </a:pPr>
            <a:r>
              <a:rPr lang="en-US" sz="850">
                <a:solidFill>
                  <a:schemeClr val="tx2">
                    <a:alpha val="66000"/>
                  </a:schemeClr>
                </a:solidFill>
                <a:latin typeface="+mn-lt"/>
                <a:cs typeface="+mn-lt"/>
              </a:rPr>
              <a:t xml:space="preserve">Orsi, Lazarski, Fitzgerald, Henderson et al.  RSC Med. Chem. 2025, 16, 4781–4795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10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Task 1 — published series</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Linker length and rigidity trade against the anti-target: </a:t>
            </a:r>
            <a:r>
              <a:rPr lang="en-US" sz="2500" b="1">
                <a:solidFill>
                  <a:schemeClr val="tx1"/>
                </a:solidFill>
                <a:latin typeface="+mj-lt"/>
                <a:cs typeface="+mj-lt"/>
              </a:rPr>
              <a:t xml:space="preserve">rigidifying recovered VEGFR2 selectivity</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57400"/>
            <a:ext cx="4191000" cy="635000"/>
          </a:xfrm>
          <a:prstGeom prst="rect">
            <a:avLst/>
          </a:prstGeom>
          <a:noFill/>
          <a:ln>
            <a:noFill/>
          </a:ln>
        </p:spPr>
        <p:txBody>
          <a:bodyPr lIns="0" tIns="0" rIns="0" bIns="0" rtlCol="0" anchor="t">
            <a:normAutofit/>
          </a:bodyPr>
          <a:lstStyle/>
          <a:p>
            <a:pPr>
              <a:lnSpc>
                <a:spcPct val="150000"/>
              </a:lnSpc>
            </a:pPr>
            <a:r>
              <a:rPr lang="en-US" sz="1400">
                <a:solidFill>
                  <a:schemeClr val="tx2"/>
                </a:solidFill>
                <a:latin typeface="+mn-lt"/>
                <a:cs typeface="+mn-lt"/>
              </a:rPr>
              <a:t xml:space="preserve">17 → 18.  Cutting polar surface area raised permeability again, but VEGFR2 selectivity fell.</a:t>
            </a:r>
          </a:p>
        </p:txBody>
      </p:sp>
      <p:sp>
        <p:nvSpPr>
          <p:cNvPr id="8" name="Shape"/>
          <p:cNvSpPr txBox="1"/>
          <p:nvPr/>
        </p:nvSpPr>
        <p:spPr>
          <a:xfrm>
            <a:off x="711200" y="2819400"/>
            <a:ext cx="4191000" cy="635000"/>
          </a:xfrm>
          <a:prstGeom prst="rect">
            <a:avLst/>
          </a:prstGeom>
          <a:noFill/>
          <a:ln>
            <a:noFill/>
          </a:ln>
        </p:spPr>
        <p:txBody>
          <a:bodyPr lIns="0" tIns="0" rIns="0" bIns="0" rtlCol="0" anchor="t">
            <a:normAutofit/>
          </a:bodyPr>
          <a:lstStyle/>
          <a:p>
            <a:pPr>
              <a:lnSpc>
                <a:spcPct val="150000"/>
              </a:lnSpc>
            </a:pPr>
            <a:r>
              <a:rPr lang="en-US" sz="1400">
                <a:solidFill>
                  <a:schemeClr val="tx2"/>
                </a:solidFill>
                <a:latin typeface="+mn-lt"/>
                <a:cs typeface="+mn-lt"/>
              </a:rPr>
              <a:t xml:space="preserve">18 → 20.  A rigid linker recovered it, at 39% oral bioavailability.</a:t>
            </a:r>
          </a:p>
        </p:txBody>
      </p:sp>
      <p:pic>
        <p:nvPicPr>
          <p:cNvPr id="9" name="linker20" descr="Linker variants for compounds 15 to 20"/>
          <p:cNvPicPr>
            <a:picLocks noChangeAspect="1"/>
          </p:cNvPicPr>
          <p:nvPr/>
        </p:nvPicPr>
        <p:blipFill>
          <a:blip r:embed="rId2"/>
          <a:stretch>
            <a:fillRect/>
          </a:stretch>
        </p:blipFill>
        <p:spPr>
          <a:xfrm>
            <a:off x="5334000" y="2032000"/>
            <a:ext cx="6096000" cy="1678305"/>
          </a:xfrm>
          <a:prstGeom prst="rect">
            <a:avLst/>
          </a:prstGeom>
        </p:spPr>
      </p:pic>
      <p:sp>
        <p:nvSpPr>
          <p:cNvPr id="10" name="Shape"/>
          <p:cNvSpPr txBox="1"/>
          <p:nvPr/>
        </p:nvSpPr>
        <p:spPr>
          <a:xfrm>
            <a:off x="5334000" y="3860800"/>
            <a:ext cx="60960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Linkers of compounds 15 to 20</a:t>
            </a:r>
          </a:p>
        </p:txBody>
      </p:sp>
      <p:graphicFrame>
        <p:nvGraphicFramePr>
          <p:cNvPr id="11" name="Data table"/>
          <p:cNvGraphicFramePr>
            <a:graphicFrameLocks noGrp="1"/>
          </p:cNvGraphicFramePr>
          <p:nvPr/>
        </p:nvGraphicFramePr>
        <p:xfrm>
          <a:off x="711200" y="4241800"/>
          <a:ext cx="10769600" cy="2057400"/>
        </p:xfrm>
        <a:graphic>
          <a:graphicData uri="http://schemas.openxmlformats.org/drawingml/2006/table">
            <a:tbl>
              <a:tblPr>
                <a:tableStyleId>{5C22544A-7EE6-4342-B048-85BDC9FD1C3A}</a:tableStyleId>
              </a:tblPr>
              <a:tblGrid>
                <a:gridCol w="1092200"/>
                <a:gridCol w="1549400"/>
                <a:gridCol w="1676400"/>
                <a:gridCol w="1320800"/>
                <a:gridCol w="1727200"/>
                <a:gridCol w="1219200"/>
                <a:gridCol w="1219200"/>
                <a:gridCol w="965200"/>
              </a:tblGrid>
              <a:tr h="381000">
                <a:tc>
                  <a:txBody>
                    <a:bodyPr lIns="88900" tIns="25400" rIns="88900" bIns="63500" rtlCol="0" anchor="b">
                      <a:noAutofit/>
                    </a:bodyPr>
                    <a:lstStyle/>
                    <a:p>
                      <a:pPr algn="l">
                        <a:lnSpc>
                          <a:spcPct val="120000"/>
                        </a:lnSpc>
                      </a:pPr>
                      <a:r>
                        <a:rPr lang="en-US" sz="850" b="1" spc="70" cap="all">
                          <a:solidFill>
                            <a:schemeClr val="tx2">
                              <a:alpha val="66000"/>
                            </a:schemeClr>
                          </a:solidFill>
                          <a:latin typeface="+mn-lt"/>
                          <a:cs typeface="+mn-lt"/>
                        </a:rPr>
                        <a:t xml:space="preserve">Cpd</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RET KD  DC₅₀ / Emax</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G810R  DC₅₀ / Emax</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RET-WT  IC₅₀</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pVEGFR2  IC₅₀ / Emax</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CL  mL/min/kg</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PO AUC  ng·h/mL</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F</a:t>
                      </a:r>
                    </a:p>
                  </a:txBody>
                  <a:tcPr marL="88900" marR="88900" marT="25400" marB="63500" anchor="b"/>
                </a:tc>
              </a:tr>
              <a:tr h="2794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15</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5 nM / 23%</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103 nM / 37%</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43.6 nM</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&gt;10 µM / 61%</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tc>
              </a:tr>
              <a:tr h="2794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16</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1.9 nM / 13%</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24 nM / 24%</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9 nM</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1162 nM / 30%</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31</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8.09</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0.88%</a:t>
                      </a:r>
                    </a:p>
                  </a:txBody>
                  <a:tcPr marL="88900" marR="88900" marT="25400" marB="25400" anchor="ctr">
                    <a:solidFill>
                      <a:schemeClr val="tx1">
                        <a:alpha val="6000"/>
                      </a:schemeClr>
                    </a:solidFill>
                  </a:tcPr>
                </a:tc>
              </a:tr>
              <a:tr h="2794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17</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1.8 nM / 13%</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19 nM / 21%</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3.5 nM</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671 nM / 17%</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16</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181</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18%</a:t>
                      </a:r>
                    </a:p>
                  </a:txBody>
                  <a:tcPr marL="88900" marR="88900" marT="25400" marB="25400" anchor="ctr"/>
                </a:tc>
              </a:tr>
              <a:tr h="2794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18</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1.4 nM / 11%</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19 nM / 24%</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660 nM / 18%</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15</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601</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53%</a:t>
                      </a:r>
                    </a:p>
                  </a:txBody>
                  <a:tcPr marL="88900" marR="88900" marT="25400" marB="25400" anchor="ctr">
                    <a:solidFill>
                      <a:schemeClr val="tx1">
                        <a:alpha val="6000"/>
                      </a:schemeClr>
                    </a:solidFill>
                  </a:tcPr>
                </a:tc>
              </a:tr>
              <a:tr h="2794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19</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1.6 nM / 8%</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19 nM / 21%</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1.7 nM</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&gt;2670 nM / 43%</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12</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325</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23%</a:t>
                      </a:r>
                    </a:p>
                  </a:txBody>
                  <a:tcPr marL="88900" marR="88900" marT="25400" marB="25400" anchor="ctr"/>
                </a:tc>
              </a:tr>
              <a:tr h="279400">
                <a:tc>
                  <a:txBody>
                    <a:bodyPr lIns="88900" tIns="25400" rIns="88900" bIns="25400" rtlCol="0" anchor="ctr">
                      <a:noAutofit/>
                    </a:bodyPr>
                    <a:lstStyle/>
                    <a:p>
                      <a:pPr algn="l">
                        <a:lnSpc>
                          <a:spcPct val="120000"/>
                        </a:lnSpc>
                      </a:pPr>
                      <a:r>
                        <a:rPr lang="en-US" sz="1050" b="1">
                          <a:solidFill>
                            <a:schemeClr val="accent1"/>
                          </a:solidFill>
                          <a:latin typeface="+mn-lt"/>
                          <a:cs typeface="+mn-lt"/>
                        </a:rPr>
                        <a:t xml:space="preserve">20</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1.7 nM / 8%</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21 nM / 22%</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4.25 nM</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5141 nM / 42%</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18</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319</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1"/>
                          </a:solidFill>
                          <a:latin typeface="+mn-lt"/>
                          <a:cs typeface="+mn-lt"/>
                        </a:rPr>
                        <a:t xml:space="preserve">39%</a:t>
                      </a:r>
                    </a:p>
                  </a:txBody>
                  <a:tcPr marL="88900" marR="88900" marT="25400" marB="25400" anchor="ctr">
                    <a:solidFill>
                      <a:schemeClr val="tx1">
                        <a:alpha val="6000"/>
                      </a:schemeClr>
                    </a:solidFill>
                  </a:tcPr>
                </a:tc>
              </a:tr>
            </a:tbl>
          </a:graphicData>
        </a:graphic>
      </p:graphicFrame>
      <p:sp>
        <p:nvSpPr>
          <p:cNvPr id="12" name="Shape"/>
          <p:cNvSpPr/>
          <p:nvPr/>
        </p:nvSpPr>
        <p:spPr>
          <a:xfrm>
            <a:off x="711200" y="4622800"/>
            <a:ext cx="10769600" cy="12700"/>
          </a:xfrm>
          <a:prstGeom prst="rect">
            <a:avLst/>
          </a:prstGeom>
          <a:solidFill>
            <a:schemeClr val="tx1">
              <a:alpha val="16000"/>
            </a:schemeClr>
          </a:solidFill>
          <a:ln>
            <a:noFill/>
          </a:ln>
        </p:spPr>
        <p:txBody>
          <a:bodyPr/>
          <a:lstStyle/>
          <a:p/>
        </p:txBody>
      </p:sp>
      <p:sp>
        <p:nvSpPr>
          <p:cNvPr id="13" name="Shape"/>
          <p:cNvSpPr txBox="1"/>
          <p:nvPr/>
        </p:nvSpPr>
        <p:spPr>
          <a:xfrm>
            <a:off x="711200" y="6477000"/>
            <a:ext cx="10769600" cy="304800"/>
          </a:xfrm>
          <a:prstGeom prst="rect">
            <a:avLst/>
          </a:prstGeom>
          <a:noFill/>
          <a:ln>
            <a:noFill/>
          </a:ln>
        </p:spPr>
        <p:txBody>
          <a:bodyPr lIns="0" tIns="0" rIns="0" bIns="0" rtlCol="0" anchor="t">
            <a:noAutofit/>
          </a:bodyPr>
          <a:lstStyle/>
          <a:p>
            <a:pPr>
              <a:lnSpc>
                <a:spcPct val="130000"/>
              </a:lnSpc>
            </a:pPr>
            <a:r>
              <a:rPr lang="en-US" sz="850">
                <a:solidFill>
                  <a:schemeClr val="tx2">
                    <a:alpha val="66000"/>
                  </a:schemeClr>
                </a:solidFill>
                <a:latin typeface="+mn-lt"/>
                <a:cs typeface="+mn-lt"/>
              </a:rPr>
              <a:t xml:space="preserve">Orsi, Lazarski, Fitzgerald, Henderson et al.  RSC Med. Chem. 2025, 16, 4781–4795</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11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Task 1 — what it turned on</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What the programme actually turned on: </a:t>
            </a:r>
            <a:r>
              <a:rPr lang="en-US" sz="2500" b="1">
                <a:solidFill>
                  <a:schemeClr val="tx1"/>
                </a:solidFill>
                <a:latin typeface="+mj-lt"/>
                <a:cs typeface="+mj-lt"/>
              </a:rPr>
              <a:t xml:space="preserve">three decisions taken before any compound was made</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06600"/>
            <a:ext cx="10769600" cy="203200"/>
          </a:xfrm>
          <a:prstGeom prst="rect">
            <a:avLst/>
          </a:prstGeom>
          <a:noFill/>
          <a:ln>
            <a:noFill/>
          </a:ln>
        </p:spPr>
        <p:txBody>
          <a:bodyPr lIns="0" tIns="0" rIns="0" bIns="0" rtlCol="0" anchor="t">
            <a:normAutofit/>
          </a:bodyPr>
          <a:lstStyle/>
          <a:p>
            <a:r>
              <a:rPr lang="en-US" sz="1000" b="1" spc="90" cap="all">
                <a:solidFill>
                  <a:schemeClr val="tx2">
                    <a:alpha val="66000"/>
                  </a:schemeClr>
                </a:solidFill>
                <a:latin typeface="+mn-lt"/>
                <a:cs typeface="+mn-lt"/>
              </a:rPr>
              <a:t xml:space="preserve">And now  </a:t>
            </a:r>
            <a:r>
              <a:rPr lang="en-US" sz="1100">
                <a:solidFill>
                  <a:schemeClr val="tx2"/>
                </a:solidFill>
                <a:latin typeface="+mn-lt"/>
                <a:cs typeface="+mn-lt"/>
              </a:rPr>
              <a:t xml:space="preserve">each of those three decisions is one of the tools in the second half of this deck</a:t>
            </a:r>
          </a:p>
        </p:txBody>
      </p:sp>
      <p:sp>
        <p:nvSpPr>
          <p:cNvPr id="8" name="Shape"/>
          <p:cNvSpPr/>
          <p:nvPr/>
        </p:nvSpPr>
        <p:spPr>
          <a:xfrm>
            <a:off x="711200" y="2819400"/>
            <a:ext cx="279400" cy="25400"/>
          </a:xfrm>
          <a:prstGeom prst="rect">
            <a:avLst/>
          </a:prstGeom>
          <a:solidFill>
            <a:schemeClr val="tx1">
              <a:alpha val="16000"/>
            </a:schemeClr>
          </a:solidFill>
          <a:ln>
            <a:noFill/>
          </a:ln>
        </p:spPr>
        <p:txBody>
          <a:bodyPr/>
          <a:lstStyle/>
          <a:p/>
        </p:txBody>
      </p:sp>
      <p:sp>
        <p:nvSpPr>
          <p:cNvPr id="9" name="Shape"/>
          <p:cNvSpPr txBox="1"/>
          <p:nvPr/>
        </p:nvSpPr>
        <p:spPr>
          <a:xfrm>
            <a:off x="711200" y="29972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Which mutants</a:t>
            </a:r>
          </a:p>
        </p:txBody>
      </p:sp>
      <p:sp>
        <p:nvSpPr>
          <p:cNvPr id="10" name="Shape"/>
          <p:cNvSpPr txBox="1"/>
          <p:nvPr/>
        </p:nvSpPr>
        <p:spPr>
          <a:xfrm>
            <a:off x="711200" y="34036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A cross-functional reading of the literature, then biochemistry and ternary-complex modelling, put G810R in the target profile.</a:t>
            </a:r>
          </a:p>
        </p:txBody>
      </p:sp>
      <p:sp>
        <p:nvSpPr>
          <p:cNvPr id="11" name="Shape"/>
          <p:cNvSpPr/>
          <p:nvPr/>
        </p:nvSpPr>
        <p:spPr>
          <a:xfrm>
            <a:off x="4402667" y="2819400"/>
            <a:ext cx="279400" cy="25400"/>
          </a:xfrm>
          <a:prstGeom prst="rect">
            <a:avLst/>
          </a:prstGeom>
          <a:solidFill>
            <a:schemeClr val="tx1">
              <a:alpha val="16000"/>
            </a:schemeClr>
          </a:solidFill>
          <a:ln>
            <a:noFill/>
          </a:ln>
        </p:spPr>
        <p:txBody>
          <a:bodyPr/>
          <a:lstStyle/>
          <a:p/>
        </p:txBody>
      </p:sp>
      <p:sp>
        <p:nvSpPr>
          <p:cNvPr id="12" name="Shape"/>
          <p:cNvSpPr txBox="1"/>
          <p:nvPr/>
        </p:nvSpPr>
        <p:spPr>
          <a:xfrm>
            <a:off x="4402667" y="29972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Where the linker leaves</a:t>
            </a:r>
          </a:p>
        </p:txBody>
      </p:sp>
      <p:sp>
        <p:nvSpPr>
          <p:cNvPr id="13" name="Shape"/>
          <p:cNvSpPr txBox="1"/>
          <p:nvPr/>
        </p:nvSpPr>
        <p:spPr>
          <a:xfrm>
            <a:off x="4402667" y="34036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Topology and dynamics ranked the exit vectors. The shortest clear path degraded best; 180° to 144° improved it further.</a:t>
            </a:r>
          </a:p>
        </p:txBody>
      </p:sp>
      <p:sp>
        <p:nvSpPr>
          <p:cNvPr id="14" name="Shape"/>
          <p:cNvSpPr/>
          <p:nvPr/>
        </p:nvSpPr>
        <p:spPr>
          <a:xfrm>
            <a:off x="8094133" y="2819400"/>
            <a:ext cx="279400" cy="25400"/>
          </a:xfrm>
          <a:prstGeom prst="rect">
            <a:avLst/>
          </a:prstGeom>
          <a:solidFill>
            <a:schemeClr val="accent1"/>
          </a:solidFill>
          <a:ln>
            <a:noFill/>
          </a:ln>
        </p:spPr>
        <p:txBody>
          <a:bodyPr/>
          <a:lstStyle/>
          <a:p/>
        </p:txBody>
      </p:sp>
      <p:sp>
        <p:nvSpPr>
          <p:cNvPr id="15" name="Shape"/>
          <p:cNvSpPr txBox="1"/>
          <p:nvPr/>
        </p:nvSpPr>
        <p:spPr>
          <a:xfrm>
            <a:off x="8094133" y="29972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accent1"/>
                </a:solidFill>
                <a:latin typeface="+mn-lt"/>
                <a:cs typeface="+mn-lt"/>
              </a:rPr>
              <a:t xml:space="preserve">What sets exposure</a:t>
            </a:r>
          </a:p>
        </p:txBody>
      </p:sp>
      <p:sp>
        <p:nvSpPr>
          <p:cNvPr id="16" name="Shape"/>
          <p:cNvSpPr txBox="1"/>
          <p:nvPr/>
        </p:nvSpPr>
        <p:spPr>
          <a:xfrm>
            <a:off x="8094133" y="34036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1"/>
                </a:solidFill>
                <a:latin typeface="+mn-lt"/>
                <a:cs typeface="+mn-lt"/>
              </a:rPr>
              <a:t xml:space="preserve">Linker basicity set clearance. Conformational collapse, predicted by dynamics, set permeability.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12 / 20</a:t>
            </a:r>
          </a:p>
        </p:txBody>
      </p:sp>
      <p:sp>
        <p:nvSpPr>
          <p:cNvPr id="4" name="Chain 01"/>
          <p:cNvSpPr/>
          <p:nvPr/>
        </p:nvSpPr>
        <p:spPr>
          <a:xfrm>
            <a:off x="711200" y="558800"/>
            <a:ext cx="3522133" cy="279400"/>
          </a:xfrm>
          <a:prstGeom prst="rect">
            <a:avLst/>
          </a:prstGeom>
          <a:solidFill>
            <a:schemeClr val="accent1"/>
          </a:solidFill>
          <a:ln>
            <a:noFill/>
          </a:ln>
        </p:spPr>
        <p:txBody>
          <a:bodyPr/>
          <a:lstStyle/>
          <a:p/>
        </p:txBody>
      </p:sp>
      <p:sp>
        <p:nvSpPr>
          <p:cNvPr id="5" name="Shape"/>
          <p:cNvSpPr txBox="1"/>
          <p:nvPr/>
        </p:nvSpPr>
        <p:spPr>
          <a:xfrm>
            <a:off x="825500" y="622300"/>
            <a:ext cx="3293533" cy="177800"/>
          </a:xfrm>
          <a:prstGeom prst="rect">
            <a:avLst/>
          </a:prstGeom>
          <a:noFill/>
          <a:ln>
            <a:noFill/>
          </a:ln>
        </p:spPr>
        <p:txBody>
          <a:bodyPr lIns="0" tIns="0" rIns="0" bIns="0" rtlCol="0" anchor="t">
            <a:noAutofit/>
          </a:bodyPr>
          <a:lstStyle/>
          <a:p>
            <a:r>
              <a:rPr lang="en-US" sz="950" b="1" spc="60">
                <a:solidFill>
                  <a:schemeClr val="bg1"/>
                </a:solidFill>
                <a:latin typeface="+mn-lt"/>
                <a:cs typeface="+mn-lt"/>
              </a:rPr>
              <a:t xml:space="preserve">01  </a:t>
            </a:r>
            <a:r>
              <a:rPr lang="en-US" sz="950" b="1" spc="40" cap="all">
                <a:solidFill>
                  <a:schemeClr val="bg1"/>
                </a:solidFill>
                <a:latin typeface="+mn-lt"/>
                <a:cs typeface="+mn-lt"/>
              </a:rPr>
              <a:t xml:space="preserve">Nominate target &amp; ligase</a:t>
            </a:r>
          </a:p>
        </p:txBody>
      </p:sp>
      <p:sp>
        <p:nvSpPr>
          <p:cNvPr id="6" name="Chain 02"/>
          <p:cNvSpPr/>
          <p:nvPr/>
        </p:nvSpPr>
        <p:spPr>
          <a:xfrm>
            <a:off x="4334933" y="558800"/>
            <a:ext cx="3522133" cy="279400"/>
          </a:xfrm>
          <a:prstGeom prst="rect">
            <a:avLst/>
          </a:prstGeom>
          <a:solidFill>
            <a:schemeClr val="tx1">
              <a:alpha val="13000"/>
            </a:schemeClr>
          </a:solidFill>
          <a:ln>
            <a:noFill/>
          </a:ln>
        </p:spPr>
        <p:txBody>
          <a:bodyPr/>
          <a:lstStyle/>
          <a:p/>
        </p:txBody>
      </p:sp>
      <p:sp>
        <p:nvSpPr>
          <p:cNvPr id="7" name="Shape"/>
          <p:cNvSpPr txBox="1"/>
          <p:nvPr/>
        </p:nvSpPr>
        <p:spPr>
          <a:xfrm>
            <a:off x="4449233" y="622300"/>
            <a:ext cx="3293533" cy="177800"/>
          </a:xfrm>
          <a:prstGeom prst="rect">
            <a:avLst/>
          </a:prstGeom>
          <a:noFill/>
          <a:ln>
            <a:noFill/>
          </a:ln>
        </p:spPr>
        <p:txBody>
          <a:bodyPr lIns="0" tIns="0" rIns="0" bIns="0" rtlCol="0" anchor="t">
            <a:noAutofit/>
          </a:bodyPr>
          <a:lstStyle/>
          <a:p>
            <a:r>
              <a:rPr lang="en-US" sz="950" b="1" spc="60">
                <a:solidFill>
                  <a:schemeClr val="tx2">
                    <a:alpha val="66000"/>
                  </a:schemeClr>
                </a:solidFill>
                <a:latin typeface="+mn-lt"/>
                <a:cs typeface="+mn-lt"/>
              </a:rPr>
              <a:t xml:space="preserve">02  </a:t>
            </a:r>
            <a:r>
              <a:rPr lang="en-US" sz="950" b="0" spc="40" cap="all">
                <a:solidFill>
                  <a:schemeClr val="tx2">
                    <a:alpha val="66000"/>
                  </a:schemeClr>
                </a:solidFill>
                <a:latin typeface="+mn-lt"/>
                <a:cs typeface="+mn-lt"/>
              </a:rPr>
              <a:t xml:space="preserve">Measure the interface</a:t>
            </a:r>
          </a:p>
        </p:txBody>
      </p:sp>
      <p:sp>
        <p:nvSpPr>
          <p:cNvPr id="8" name="Chain 03"/>
          <p:cNvSpPr/>
          <p:nvPr/>
        </p:nvSpPr>
        <p:spPr>
          <a:xfrm>
            <a:off x="7958667" y="558800"/>
            <a:ext cx="3522133" cy="279400"/>
          </a:xfrm>
          <a:prstGeom prst="rect">
            <a:avLst/>
          </a:prstGeom>
          <a:solidFill>
            <a:schemeClr val="tx1">
              <a:alpha val="13000"/>
            </a:schemeClr>
          </a:solidFill>
          <a:ln>
            <a:noFill/>
          </a:ln>
        </p:spPr>
        <p:txBody>
          <a:bodyPr/>
          <a:lstStyle/>
          <a:p/>
        </p:txBody>
      </p:sp>
      <p:sp>
        <p:nvSpPr>
          <p:cNvPr id="9" name="Shape"/>
          <p:cNvSpPr txBox="1"/>
          <p:nvPr/>
        </p:nvSpPr>
        <p:spPr>
          <a:xfrm>
            <a:off x="8072967" y="622300"/>
            <a:ext cx="3293533" cy="177800"/>
          </a:xfrm>
          <a:prstGeom prst="rect">
            <a:avLst/>
          </a:prstGeom>
          <a:noFill/>
          <a:ln>
            <a:noFill/>
          </a:ln>
        </p:spPr>
        <p:txBody>
          <a:bodyPr lIns="0" tIns="0" rIns="0" bIns="0" rtlCol="0" anchor="t">
            <a:noAutofit/>
          </a:bodyPr>
          <a:lstStyle/>
          <a:p>
            <a:r>
              <a:rPr lang="en-US" sz="950" b="1" spc="60">
                <a:solidFill>
                  <a:schemeClr val="tx2">
                    <a:alpha val="66000"/>
                  </a:schemeClr>
                </a:solidFill>
                <a:latin typeface="+mn-lt"/>
                <a:cs typeface="+mn-lt"/>
              </a:rPr>
              <a:t xml:space="preserve">03  </a:t>
            </a:r>
            <a:r>
              <a:rPr lang="en-US" sz="950" b="0" spc="40" cap="all">
                <a:solidFill>
                  <a:schemeClr val="tx2">
                    <a:alpha val="66000"/>
                  </a:schemeClr>
                </a:solidFill>
                <a:latin typeface="+mn-lt"/>
                <a:cs typeface="+mn-lt"/>
              </a:rPr>
              <a:t xml:space="preserve">Design the compounds</a:t>
            </a:r>
          </a:p>
        </p:txBody>
      </p:sp>
      <p:sp>
        <p:nvSpPr>
          <p:cNvPr id="10" name="Shape"/>
          <p:cNvSpPr txBox="1"/>
          <p:nvPr/>
        </p:nvSpPr>
        <p:spPr>
          <a:xfrm>
            <a:off x="711200" y="1092200"/>
            <a:ext cx="8890000" cy="203200"/>
          </a:xfrm>
          <a:prstGeom prst="rect">
            <a:avLst/>
          </a:prstGeom>
          <a:noFill/>
          <a:ln>
            <a:noFill/>
          </a:ln>
        </p:spPr>
        <p:txBody>
          <a:bodyPr lIns="0" tIns="0" rIns="0" bIns="0" rtlCol="0" anchor="t">
            <a:noAutofit/>
          </a:bodyPr>
          <a:lstStyle/>
          <a:p>
            <a:r>
              <a:rPr lang="en-US" sz="1050" b="1" spc="120" cap="all">
                <a:solidFill>
                  <a:schemeClr val="accent1"/>
                </a:solidFill>
                <a:latin typeface="+mn-lt"/>
                <a:cs typeface="+mn-lt"/>
              </a:rPr>
              <a:t xml:space="preserve">Task 2 · Target Nomination</a:t>
            </a:r>
          </a:p>
        </p:txBody>
      </p:sp>
      <p:sp>
        <p:nvSpPr>
          <p:cNvPr id="11" name="Shape"/>
          <p:cNvSpPr txBox="1"/>
          <p:nvPr/>
        </p:nvSpPr>
        <p:spPr>
          <a:xfrm>
            <a:off x="711200" y="1346200"/>
            <a:ext cx="10769600" cy="1143000"/>
          </a:xfrm>
          <a:prstGeom prst="rect">
            <a:avLst/>
          </a:prstGeom>
          <a:noFill/>
          <a:ln>
            <a:noFill/>
          </a:ln>
        </p:spPr>
        <p:txBody>
          <a:bodyPr lIns="0" tIns="0" rIns="0" bIns="0" rtlCol="0" anchor="t">
            <a:normAutofit/>
          </a:bodyPr>
          <a:lstStyle/>
          <a:p>
            <a:pPr>
              <a:lnSpc>
                <a:spcPct val="120000"/>
              </a:lnSpc>
            </a:pPr>
            <a:r>
              <a:rPr lang="en-US" sz="3000" b="0">
                <a:solidFill>
                  <a:schemeClr val="tx2"/>
                </a:solidFill>
                <a:latin typeface="+mj-lt"/>
                <a:cs typeface="+mj-lt"/>
              </a:rPr>
              <a:t xml:space="preserve">Tool 1 — </a:t>
            </a:r>
            <a:r>
              <a:rPr lang="en-US" sz="3000" b="1">
                <a:solidFill>
                  <a:schemeClr val="tx1"/>
                </a:solidFill>
                <a:latin typeface="+mj-lt"/>
                <a:cs typeface="+mj-lt"/>
              </a:rPr>
              <a:t xml:space="preserve">database-mining web tool</a:t>
            </a:r>
            <a:r>
              <a:rPr lang="en-US" sz="3000" b="0">
                <a:solidFill>
                  <a:schemeClr val="tx2"/>
                </a:solidFill>
                <a:latin typeface="+mj-lt"/>
                <a:cs typeface="+mj-lt"/>
              </a:rPr>
              <a:t xml:space="preserve"> that nominates target–ligase pairs in immunology, inflammation and cardiometabolic disease</a:t>
            </a:r>
          </a:p>
        </p:txBody>
      </p:sp>
      <p:sp>
        <p:nvSpPr>
          <p:cNvPr id="12" name="Shape"/>
          <p:cNvSpPr txBox="1"/>
          <p:nvPr/>
        </p:nvSpPr>
        <p:spPr>
          <a:xfrm>
            <a:off x="711200" y="2616200"/>
            <a:ext cx="10769600" cy="203200"/>
          </a:xfrm>
          <a:prstGeom prst="rect">
            <a:avLst/>
          </a:prstGeom>
          <a:noFill/>
          <a:ln>
            <a:noFill/>
          </a:ln>
        </p:spPr>
        <p:txBody>
          <a:bodyPr lIns="0" tIns="0" rIns="0" bIns="0" rtlCol="0" anchor="t">
            <a:normAutofit/>
          </a:bodyPr>
          <a:lstStyle/>
          <a:p>
            <a:r>
              <a:rPr lang="en-US" sz="1000" b="1" spc="90" cap="all">
                <a:solidFill>
                  <a:schemeClr val="tx2">
                    <a:alpha val="66000"/>
                  </a:schemeClr>
                </a:solidFill>
                <a:latin typeface="+mn-lt"/>
                <a:cs typeface="+mn-lt"/>
              </a:rPr>
              <a:t xml:space="preserve">Built as  </a:t>
            </a:r>
            <a:r>
              <a:rPr lang="en-US" sz="1100">
                <a:solidFill>
                  <a:schemeClr val="tx2"/>
                </a:solidFill>
                <a:latin typeface="+mn-lt"/>
                <a:cs typeface="+mn-lt"/>
              </a:rPr>
              <a:t xml:space="preserve">tpd_calibration_set.csv  ·  Proteins of Interest page  ·  Glue Site Scan  ·  dock.mjs</a:t>
            </a:r>
          </a:p>
        </p:txBody>
      </p:sp>
      <p:sp>
        <p:nvSpPr>
          <p:cNvPr id="13" name="Shape"/>
          <p:cNvSpPr/>
          <p:nvPr/>
        </p:nvSpPr>
        <p:spPr>
          <a:xfrm>
            <a:off x="711200" y="3073400"/>
            <a:ext cx="10769600" cy="12700"/>
          </a:xfrm>
          <a:prstGeom prst="rect">
            <a:avLst/>
          </a:prstGeom>
          <a:solidFill>
            <a:schemeClr val="tx1">
              <a:alpha val="16000"/>
            </a:schemeClr>
          </a:solidFill>
          <a:ln>
            <a:noFill/>
          </a:ln>
        </p:spPr>
        <p:txBody>
          <a:bodyPr/>
          <a:lstStyle/>
          <a:p/>
        </p:txBody>
      </p:sp>
      <p:sp>
        <p:nvSpPr>
          <p:cNvPr id="14" name="Shape"/>
          <p:cNvSpPr/>
          <p:nvPr/>
        </p:nvSpPr>
        <p:spPr>
          <a:xfrm>
            <a:off x="711200" y="3810000"/>
            <a:ext cx="279400" cy="25400"/>
          </a:xfrm>
          <a:prstGeom prst="rect">
            <a:avLst/>
          </a:prstGeom>
          <a:solidFill>
            <a:schemeClr val="tx1">
              <a:alpha val="16000"/>
            </a:schemeClr>
          </a:solidFill>
          <a:ln>
            <a:noFill/>
          </a:ln>
        </p:spPr>
        <p:txBody>
          <a:bodyPr/>
          <a:lstStyle/>
          <a:p/>
        </p:txBody>
      </p:sp>
      <p:sp>
        <p:nvSpPr>
          <p:cNvPr id="15" name="Shape"/>
          <p:cNvSpPr txBox="1"/>
          <p:nvPr/>
        </p:nvSpPr>
        <p:spPr>
          <a:xfrm>
            <a:off x="711200" y="39878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Why it exists</a:t>
            </a:r>
          </a:p>
        </p:txBody>
      </p:sp>
      <p:sp>
        <p:nvSpPr>
          <p:cNvPr id="16" name="Shape"/>
          <p:cNvSpPr txBox="1"/>
          <p:nvPr/>
        </p:nvSpPr>
        <p:spPr>
          <a:xfrm>
            <a:off x="711200" y="43942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Outside oncology there is no essentiality screen to borrow, and a degrader is a three-body problem — the ligase cannot be chosen late.</a:t>
            </a:r>
          </a:p>
        </p:txBody>
      </p:sp>
      <p:sp>
        <p:nvSpPr>
          <p:cNvPr id="17" name="Shape"/>
          <p:cNvSpPr/>
          <p:nvPr/>
        </p:nvSpPr>
        <p:spPr>
          <a:xfrm>
            <a:off x="4402667" y="3810000"/>
            <a:ext cx="279400" cy="25400"/>
          </a:xfrm>
          <a:prstGeom prst="rect">
            <a:avLst/>
          </a:prstGeom>
          <a:solidFill>
            <a:schemeClr val="tx1">
              <a:alpha val="16000"/>
            </a:schemeClr>
          </a:solidFill>
          <a:ln>
            <a:noFill/>
          </a:ln>
        </p:spPr>
        <p:txBody>
          <a:bodyPr/>
          <a:lstStyle/>
          <a:p/>
        </p:txBody>
      </p:sp>
      <p:sp>
        <p:nvSpPr>
          <p:cNvPr id="18" name="Shape"/>
          <p:cNvSpPr txBox="1"/>
          <p:nvPr/>
        </p:nvSpPr>
        <p:spPr>
          <a:xfrm>
            <a:off x="4402667" y="39878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What it draws on</a:t>
            </a:r>
          </a:p>
        </p:txBody>
      </p:sp>
      <p:sp>
        <p:nvSpPr>
          <p:cNvPr id="19" name="Shape"/>
          <p:cNvSpPr txBox="1"/>
          <p:nvPr/>
        </p:nvSpPr>
        <p:spPr>
          <a:xfrm>
            <a:off x="4402667" y="43942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Human genetics, Open Targets, GTEx, STRING, UniProt, ChEMBL and the trial registries, plus structures for both partners. All public.</a:t>
            </a:r>
          </a:p>
        </p:txBody>
      </p:sp>
      <p:sp>
        <p:nvSpPr>
          <p:cNvPr id="20" name="Shape"/>
          <p:cNvSpPr/>
          <p:nvPr/>
        </p:nvSpPr>
        <p:spPr>
          <a:xfrm>
            <a:off x="8094133" y="3810000"/>
            <a:ext cx="279400" cy="25400"/>
          </a:xfrm>
          <a:prstGeom prst="rect">
            <a:avLst/>
          </a:prstGeom>
          <a:solidFill>
            <a:schemeClr val="accent1"/>
          </a:solidFill>
          <a:ln>
            <a:noFill/>
          </a:ln>
        </p:spPr>
        <p:txBody>
          <a:bodyPr/>
          <a:lstStyle/>
          <a:p/>
        </p:txBody>
      </p:sp>
      <p:sp>
        <p:nvSpPr>
          <p:cNvPr id="21" name="Shape"/>
          <p:cNvSpPr txBox="1"/>
          <p:nvPr/>
        </p:nvSpPr>
        <p:spPr>
          <a:xfrm>
            <a:off x="8094133" y="39878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accent1"/>
                </a:solidFill>
                <a:latin typeface="+mn-lt"/>
                <a:cs typeface="+mn-lt"/>
              </a:rPr>
              <a:t xml:space="preserve">What comes out</a:t>
            </a:r>
          </a:p>
        </p:txBody>
      </p:sp>
      <p:sp>
        <p:nvSpPr>
          <p:cNvPr id="22" name="Shape"/>
          <p:cNvSpPr txBox="1"/>
          <p:nvPr/>
        </p:nvSpPr>
        <p:spPr>
          <a:xfrm>
            <a:off x="8094133" y="43942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1"/>
                </a:solidFill>
                <a:latin typeface="+mn-lt"/>
                <a:cs typeface="+mn-lt"/>
              </a:rPr>
              <a:t xml:space="preserve">A ranked shortlist of target–ligase pairs, each with an evidence tier and a likely modality.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13 / 20</a:t>
            </a:r>
          </a:p>
        </p:txBody>
      </p:sp>
      <p:sp>
        <p:nvSpPr>
          <p:cNvPr id="4" name="Chain 01"/>
          <p:cNvSpPr/>
          <p:nvPr/>
        </p:nvSpPr>
        <p:spPr>
          <a:xfrm>
            <a:off x="711200" y="558800"/>
            <a:ext cx="3522133" cy="279400"/>
          </a:xfrm>
          <a:prstGeom prst="rect">
            <a:avLst/>
          </a:prstGeom>
          <a:solidFill>
            <a:schemeClr val="tx1">
              <a:alpha val="13000"/>
            </a:schemeClr>
          </a:solidFill>
          <a:ln>
            <a:noFill/>
          </a:ln>
        </p:spPr>
        <p:txBody>
          <a:bodyPr/>
          <a:lstStyle/>
          <a:p/>
        </p:txBody>
      </p:sp>
      <p:sp>
        <p:nvSpPr>
          <p:cNvPr id="5" name="Shape"/>
          <p:cNvSpPr txBox="1"/>
          <p:nvPr/>
        </p:nvSpPr>
        <p:spPr>
          <a:xfrm>
            <a:off x="825500" y="622300"/>
            <a:ext cx="3293533" cy="177800"/>
          </a:xfrm>
          <a:prstGeom prst="rect">
            <a:avLst/>
          </a:prstGeom>
          <a:noFill/>
          <a:ln>
            <a:noFill/>
          </a:ln>
        </p:spPr>
        <p:txBody>
          <a:bodyPr lIns="0" tIns="0" rIns="0" bIns="0" rtlCol="0" anchor="t">
            <a:noAutofit/>
          </a:bodyPr>
          <a:lstStyle/>
          <a:p>
            <a:r>
              <a:rPr lang="en-US" sz="950" b="1" spc="60">
                <a:solidFill>
                  <a:schemeClr val="tx2">
                    <a:alpha val="66000"/>
                  </a:schemeClr>
                </a:solidFill>
                <a:latin typeface="+mn-lt"/>
                <a:cs typeface="+mn-lt"/>
              </a:rPr>
              <a:t xml:space="preserve">01  </a:t>
            </a:r>
            <a:r>
              <a:rPr lang="en-US" sz="950" b="0" spc="40" cap="all">
                <a:solidFill>
                  <a:schemeClr val="tx2">
                    <a:alpha val="66000"/>
                  </a:schemeClr>
                </a:solidFill>
                <a:latin typeface="+mn-lt"/>
                <a:cs typeface="+mn-lt"/>
              </a:rPr>
              <a:t xml:space="preserve">Nominate target &amp; ligase</a:t>
            </a:r>
          </a:p>
        </p:txBody>
      </p:sp>
      <p:sp>
        <p:nvSpPr>
          <p:cNvPr id="6" name="Chain 02"/>
          <p:cNvSpPr/>
          <p:nvPr/>
        </p:nvSpPr>
        <p:spPr>
          <a:xfrm>
            <a:off x="4334933" y="558800"/>
            <a:ext cx="3522133" cy="279400"/>
          </a:xfrm>
          <a:prstGeom prst="rect">
            <a:avLst/>
          </a:prstGeom>
          <a:solidFill>
            <a:schemeClr val="accent1"/>
          </a:solidFill>
          <a:ln>
            <a:noFill/>
          </a:ln>
        </p:spPr>
        <p:txBody>
          <a:bodyPr/>
          <a:lstStyle/>
          <a:p/>
        </p:txBody>
      </p:sp>
      <p:sp>
        <p:nvSpPr>
          <p:cNvPr id="7" name="Shape"/>
          <p:cNvSpPr txBox="1"/>
          <p:nvPr/>
        </p:nvSpPr>
        <p:spPr>
          <a:xfrm>
            <a:off x="4449233" y="622300"/>
            <a:ext cx="3293533" cy="177800"/>
          </a:xfrm>
          <a:prstGeom prst="rect">
            <a:avLst/>
          </a:prstGeom>
          <a:noFill/>
          <a:ln>
            <a:noFill/>
          </a:ln>
        </p:spPr>
        <p:txBody>
          <a:bodyPr lIns="0" tIns="0" rIns="0" bIns="0" rtlCol="0" anchor="t">
            <a:noAutofit/>
          </a:bodyPr>
          <a:lstStyle/>
          <a:p>
            <a:r>
              <a:rPr lang="en-US" sz="950" b="1" spc="60">
                <a:solidFill>
                  <a:schemeClr val="bg1"/>
                </a:solidFill>
                <a:latin typeface="+mn-lt"/>
                <a:cs typeface="+mn-lt"/>
              </a:rPr>
              <a:t xml:space="preserve">02  </a:t>
            </a:r>
            <a:r>
              <a:rPr lang="en-US" sz="950" b="1" spc="40" cap="all">
                <a:solidFill>
                  <a:schemeClr val="bg1"/>
                </a:solidFill>
                <a:latin typeface="+mn-lt"/>
                <a:cs typeface="+mn-lt"/>
              </a:rPr>
              <a:t xml:space="preserve">Measure the interface</a:t>
            </a:r>
          </a:p>
        </p:txBody>
      </p:sp>
      <p:sp>
        <p:nvSpPr>
          <p:cNvPr id="8" name="Chain 03"/>
          <p:cNvSpPr/>
          <p:nvPr/>
        </p:nvSpPr>
        <p:spPr>
          <a:xfrm>
            <a:off x="7958667" y="558800"/>
            <a:ext cx="3522133" cy="279400"/>
          </a:xfrm>
          <a:prstGeom prst="rect">
            <a:avLst/>
          </a:prstGeom>
          <a:solidFill>
            <a:schemeClr val="tx1">
              <a:alpha val="13000"/>
            </a:schemeClr>
          </a:solidFill>
          <a:ln>
            <a:noFill/>
          </a:ln>
        </p:spPr>
        <p:txBody>
          <a:bodyPr/>
          <a:lstStyle/>
          <a:p/>
        </p:txBody>
      </p:sp>
      <p:sp>
        <p:nvSpPr>
          <p:cNvPr id="9" name="Shape"/>
          <p:cNvSpPr txBox="1"/>
          <p:nvPr/>
        </p:nvSpPr>
        <p:spPr>
          <a:xfrm>
            <a:off x="8072967" y="622300"/>
            <a:ext cx="3293533" cy="177800"/>
          </a:xfrm>
          <a:prstGeom prst="rect">
            <a:avLst/>
          </a:prstGeom>
          <a:noFill/>
          <a:ln>
            <a:noFill/>
          </a:ln>
        </p:spPr>
        <p:txBody>
          <a:bodyPr lIns="0" tIns="0" rIns="0" bIns="0" rtlCol="0" anchor="t">
            <a:noAutofit/>
          </a:bodyPr>
          <a:lstStyle/>
          <a:p>
            <a:r>
              <a:rPr lang="en-US" sz="950" b="1" spc="60">
                <a:solidFill>
                  <a:schemeClr val="tx2">
                    <a:alpha val="66000"/>
                  </a:schemeClr>
                </a:solidFill>
                <a:latin typeface="+mn-lt"/>
                <a:cs typeface="+mn-lt"/>
              </a:rPr>
              <a:t xml:space="preserve">03  </a:t>
            </a:r>
            <a:r>
              <a:rPr lang="en-US" sz="950" b="0" spc="40" cap="all">
                <a:solidFill>
                  <a:schemeClr val="tx2">
                    <a:alpha val="66000"/>
                  </a:schemeClr>
                </a:solidFill>
                <a:latin typeface="+mn-lt"/>
                <a:cs typeface="+mn-lt"/>
              </a:rPr>
              <a:t xml:space="preserve">Design the compounds</a:t>
            </a:r>
          </a:p>
        </p:txBody>
      </p:sp>
      <p:sp>
        <p:nvSpPr>
          <p:cNvPr id="10" name="Shape"/>
          <p:cNvSpPr txBox="1"/>
          <p:nvPr/>
        </p:nvSpPr>
        <p:spPr>
          <a:xfrm>
            <a:off x="711200" y="1092200"/>
            <a:ext cx="8890000" cy="203200"/>
          </a:xfrm>
          <a:prstGeom prst="rect">
            <a:avLst/>
          </a:prstGeom>
          <a:noFill/>
          <a:ln>
            <a:noFill/>
          </a:ln>
        </p:spPr>
        <p:txBody>
          <a:bodyPr lIns="0" tIns="0" rIns="0" bIns="0" rtlCol="0" anchor="t">
            <a:noAutofit/>
          </a:bodyPr>
          <a:lstStyle/>
          <a:p>
            <a:r>
              <a:rPr lang="en-US" sz="1050" b="1" spc="120" cap="all">
                <a:solidFill>
                  <a:schemeClr val="accent1"/>
                </a:solidFill>
                <a:latin typeface="+mn-lt"/>
                <a:cs typeface="+mn-lt"/>
              </a:rPr>
              <a:t xml:space="preserve">Task 2 · Omni Tool</a:t>
            </a:r>
          </a:p>
        </p:txBody>
      </p:sp>
      <p:sp>
        <p:nvSpPr>
          <p:cNvPr id="11" name="Shape"/>
          <p:cNvSpPr txBox="1"/>
          <p:nvPr/>
        </p:nvSpPr>
        <p:spPr>
          <a:xfrm>
            <a:off x="711200" y="1346200"/>
            <a:ext cx="10769600" cy="1143000"/>
          </a:xfrm>
          <a:prstGeom prst="rect">
            <a:avLst/>
          </a:prstGeom>
          <a:noFill/>
          <a:ln>
            <a:noFill/>
          </a:ln>
        </p:spPr>
        <p:txBody>
          <a:bodyPr lIns="0" tIns="0" rIns="0" bIns="0" rtlCol="0" anchor="t">
            <a:normAutofit/>
          </a:bodyPr>
          <a:lstStyle/>
          <a:p>
            <a:pPr>
              <a:lnSpc>
                <a:spcPct val="120000"/>
              </a:lnSpc>
            </a:pPr>
            <a:r>
              <a:rPr lang="en-US" sz="3000" b="0">
                <a:solidFill>
                  <a:schemeClr val="tx2"/>
                </a:solidFill>
                <a:latin typeface="+mj-lt"/>
                <a:cs typeface="+mj-lt"/>
              </a:rPr>
              <a:t xml:space="preserve">Tool 2 — </a:t>
            </a:r>
            <a:r>
              <a:rPr lang="en-US" sz="3000" b="1">
                <a:solidFill>
                  <a:schemeClr val="tx1"/>
                </a:solidFill>
                <a:latin typeface="+mj-lt"/>
                <a:cs typeface="+mj-lt"/>
              </a:rPr>
              <a:t xml:space="preserve">structural workbench</a:t>
            </a:r>
            <a:r>
              <a:rPr lang="en-US" sz="3000" b="0">
                <a:solidFill>
                  <a:schemeClr val="tx2"/>
                </a:solidFill>
                <a:latin typeface="+mj-lt"/>
                <a:cs typeface="+mj-lt"/>
              </a:rPr>
              <a:t xml:space="preserve"> that measures whether a target–ligase interface can host a small molecule</a:t>
            </a:r>
          </a:p>
        </p:txBody>
      </p:sp>
      <p:sp>
        <p:nvSpPr>
          <p:cNvPr id="12" name="Shape"/>
          <p:cNvSpPr txBox="1"/>
          <p:nvPr/>
        </p:nvSpPr>
        <p:spPr>
          <a:xfrm>
            <a:off x="711200" y="2616200"/>
            <a:ext cx="10769600" cy="203200"/>
          </a:xfrm>
          <a:prstGeom prst="rect">
            <a:avLst/>
          </a:prstGeom>
          <a:noFill/>
          <a:ln>
            <a:noFill/>
          </a:ln>
        </p:spPr>
        <p:txBody>
          <a:bodyPr lIns="0" tIns="0" rIns="0" bIns="0" rtlCol="0" anchor="t">
            <a:normAutofit/>
          </a:bodyPr>
          <a:lstStyle/>
          <a:p>
            <a:r>
              <a:rPr lang="en-US" sz="1000" b="1" spc="90" cap="all">
                <a:solidFill>
                  <a:schemeClr val="tx2">
                    <a:alpha val="66000"/>
                  </a:schemeClr>
                </a:solidFill>
                <a:latin typeface="+mn-lt"/>
                <a:cs typeface="+mn-lt"/>
              </a:rPr>
              <a:t xml:space="preserve">Built as  </a:t>
            </a:r>
            <a:r>
              <a:rPr lang="en-US" sz="1100">
                <a:solidFill>
                  <a:schemeClr val="tx2"/>
                </a:solidFill>
                <a:latin typeface="+mn-lt"/>
                <a:cs typeface="+mn-lt"/>
              </a:rPr>
              <a:t xml:space="preserve">Omni Tool  ·  Exit Vectors page, TC Feasibility page, Cross-Species page</a:t>
            </a:r>
          </a:p>
        </p:txBody>
      </p:sp>
      <p:sp>
        <p:nvSpPr>
          <p:cNvPr id="13" name="Shape"/>
          <p:cNvSpPr/>
          <p:nvPr/>
        </p:nvSpPr>
        <p:spPr>
          <a:xfrm>
            <a:off x="711200" y="3073400"/>
            <a:ext cx="10769600" cy="12700"/>
          </a:xfrm>
          <a:prstGeom prst="rect">
            <a:avLst/>
          </a:prstGeom>
          <a:solidFill>
            <a:schemeClr val="tx1">
              <a:alpha val="16000"/>
            </a:schemeClr>
          </a:solidFill>
          <a:ln>
            <a:noFill/>
          </a:ln>
        </p:spPr>
        <p:txBody>
          <a:bodyPr/>
          <a:lstStyle/>
          <a:p/>
        </p:txBody>
      </p:sp>
      <p:sp>
        <p:nvSpPr>
          <p:cNvPr id="14" name="Shape"/>
          <p:cNvSpPr/>
          <p:nvPr/>
        </p:nvSpPr>
        <p:spPr>
          <a:xfrm>
            <a:off x="711200" y="3810000"/>
            <a:ext cx="279400" cy="25400"/>
          </a:xfrm>
          <a:prstGeom prst="rect">
            <a:avLst/>
          </a:prstGeom>
          <a:solidFill>
            <a:schemeClr val="tx1">
              <a:alpha val="16000"/>
            </a:schemeClr>
          </a:solidFill>
          <a:ln>
            <a:noFill/>
          </a:ln>
        </p:spPr>
        <p:txBody>
          <a:bodyPr/>
          <a:lstStyle/>
          <a:p/>
        </p:txBody>
      </p:sp>
      <p:sp>
        <p:nvSpPr>
          <p:cNvPr id="15" name="Shape"/>
          <p:cNvSpPr txBox="1"/>
          <p:nvPr/>
        </p:nvSpPr>
        <p:spPr>
          <a:xfrm>
            <a:off x="711200" y="39878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Why it exists</a:t>
            </a:r>
          </a:p>
        </p:txBody>
      </p:sp>
      <p:sp>
        <p:nvSpPr>
          <p:cNvPr id="16" name="Shape"/>
          <p:cNvSpPr txBox="1"/>
          <p:nvPr/>
        </p:nvSpPr>
        <p:spPr>
          <a:xfrm>
            <a:off x="711200" y="43942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Geometric impossibility is usually found after the chemistry. This needs only the two structures.</a:t>
            </a:r>
          </a:p>
        </p:txBody>
      </p:sp>
      <p:sp>
        <p:nvSpPr>
          <p:cNvPr id="17" name="Shape"/>
          <p:cNvSpPr/>
          <p:nvPr/>
        </p:nvSpPr>
        <p:spPr>
          <a:xfrm>
            <a:off x="4402667" y="3810000"/>
            <a:ext cx="279400" cy="25400"/>
          </a:xfrm>
          <a:prstGeom prst="rect">
            <a:avLst/>
          </a:prstGeom>
          <a:solidFill>
            <a:schemeClr val="tx1">
              <a:alpha val="16000"/>
            </a:schemeClr>
          </a:solidFill>
          <a:ln>
            <a:noFill/>
          </a:ln>
        </p:spPr>
        <p:txBody>
          <a:bodyPr/>
          <a:lstStyle/>
          <a:p/>
        </p:txBody>
      </p:sp>
      <p:sp>
        <p:nvSpPr>
          <p:cNvPr id="18" name="Shape"/>
          <p:cNvSpPr txBox="1"/>
          <p:nvPr/>
        </p:nvSpPr>
        <p:spPr>
          <a:xfrm>
            <a:off x="4402667" y="39878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What it draws on</a:t>
            </a:r>
          </a:p>
        </p:txBody>
      </p:sp>
      <p:sp>
        <p:nvSpPr>
          <p:cNvPr id="19" name="Shape"/>
          <p:cNvSpPr txBox="1"/>
          <p:nvPr/>
        </p:nvSpPr>
        <p:spPr>
          <a:xfrm>
            <a:off x="4402667" y="43942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PDB co-crystals and predicted models. Runs offline in a browser — no server, no queue.</a:t>
            </a:r>
          </a:p>
        </p:txBody>
      </p:sp>
      <p:sp>
        <p:nvSpPr>
          <p:cNvPr id="20" name="Shape"/>
          <p:cNvSpPr/>
          <p:nvPr/>
        </p:nvSpPr>
        <p:spPr>
          <a:xfrm>
            <a:off x="8094133" y="3810000"/>
            <a:ext cx="279400" cy="25400"/>
          </a:xfrm>
          <a:prstGeom prst="rect">
            <a:avLst/>
          </a:prstGeom>
          <a:solidFill>
            <a:schemeClr val="accent1"/>
          </a:solidFill>
          <a:ln>
            <a:noFill/>
          </a:ln>
        </p:spPr>
        <p:txBody>
          <a:bodyPr/>
          <a:lstStyle/>
          <a:p/>
        </p:txBody>
      </p:sp>
      <p:sp>
        <p:nvSpPr>
          <p:cNvPr id="21" name="Shape"/>
          <p:cNvSpPr txBox="1"/>
          <p:nvPr/>
        </p:nvSpPr>
        <p:spPr>
          <a:xfrm>
            <a:off x="8094133" y="39878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accent1"/>
                </a:solidFill>
                <a:latin typeface="+mn-lt"/>
                <a:cs typeface="+mn-lt"/>
              </a:rPr>
              <a:t xml:space="preserve">What comes out</a:t>
            </a:r>
          </a:p>
        </p:txBody>
      </p:sp>
      <p:sp>
        <p:nvSpPr>
          <p:cNvPr id="22" name="Shape"/>
          <p:cNvSpPr txBox="1"/>
          <p:nvPr/>
        </p:nvSpPr>
        <p:spPr>
          <a:xfrm>
            <a:off x="8094133" y="43942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1"/>
                </a:solidFill>
                <a:latin typeface="+mn-lt"/>
                <a:cs typeface="+mn-lt"/>
              </a:rPr>
              <a:t xml:space="preserve">Where a linker can attach, the reach it needs, and which compounds are impossible.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14 / 20</a:t>
            </a:r>
          </a:p>
        </p:txBody>
      </p:sp>
      <p:sp>
        <p:nvSpPr>
          <p:cNvPr id="4" name="Chain 01"/>
          <p:cNvSpPr/>
          <p:nvPr/>
        </p:nvSpPr>
        <p:spPr>
          <a:xfrm>
            <a:off x="711200" y="558800"/>
            <a:ext cx="3522133" cy="279400"/>
          </a:xfrm>
          <a:prstGeom prst="rect">
            <a:avLst/>
          </a:prstGeom>
          <a:solidFill>
            <a:schemeClr val="tx1">
              <a:alpha val="13000"/>
            </a:schemeClr>
          </a:solidFill>
          <a:ln>
            <a:noFill/>
          </a:ln>
        </p:spPr>
        <p:txBody>
          <a:bodyPr/>
          <a:lstStyle/>
          <a:p/>
        </p:txBody>
      </p:sp>
      <p:sp>
        <p:nvSpPr>
          <p:cNvPr id="5" name="Shape"/>
          <p:cNvSpPr txBox="1"/>
          <p:nvPr/>
        </p:nvSpPr>
        <p:spPr>
          <a:xfrm>
            <a:off x="825500" y="622300"/>
            <a:ext cx="3293533" cy="177800"/>
          </a:xfrm>
          <a:prstGeom prst="rect">
            <a:avLst/>
          </a:prstGeom>
          <a:noFill/>
          <a:ln>
            <a:noFill/>
          </a:ln>
        </p:spPr>
        <p:txBody>
          <a:bodyPr lIns="0" tIns="0" rIns="0" bIns="0" rtlCol="0" anchor="t">
            <a:noAutofit/>
          </a:bodyPr>
          <a:lstStyle/>
          <a:p>
            <a:r>
              <a:rPr lang="en-US" sz="950" b="1" spc="60">
                <a:solidFill>
                  <a:schemeClr val="tx2">
                    <a:alpha val="66000"/>
                  </a:schemeClr>
                </a:solidFill>
                <a:latin typeface="+mn-lt"/>
                <a:cs typeface="+mn-lt"/>
              </a:rPr>
              <a:t xml:space="preserve">01  </a:t>
            </a:r>
            <a:r>
              <a:rPr lang="en-US" sz="950" b="0" spc="40" cap="all">
                <a:solidFill>
                  <a:schemeClr val="tx2">
                    <a:alpha val="66000"/>
                  </a:schemeClr>
                </a:solidFill>
                <a:latin typeface="+mn-lt"/>
                <a:cs typeface="+mn-lt"/>
              </a:rPr>
              <a:t xml:space="preserve">Nominate target &amp; ligase</a:t>
            </a:r>
          </a:p>
        </p:txBody>
      </p:sp>
      <p:sp>
        <p:nvSpPr>
          <p:cNvPr id="6" name="Chain 02"/>
          <p:cNvSpPr/>
          <p:nvPr/>
        </p:nvSpPr>
        <p:spPr>
          <a:xfrm>
            <a:off x="4334933" y="558800"/>
            <a:ext cx="3522133" cy="279400"/>
          </a:xfrm>
          <a:prstGeom prst="rect">
            <a:avLst/>
          </a:prstGeom>
          <a:solidFill>
            <a:schemeClr val="tx1">
              <a:alpha val="13000"/>
            </a:schemeClr>
          </a:solidFill>
          <a:ln>
            <a:noFill/>
          </a:ln>
        </p:spPr>
        <p:txBody>
          <a:bodyPr/>
          <a:lstStyle/>
          <a:p/>
        </p:txBody>
      </p:sp>
      <p:sp>
        <p:nvSpPr>
          <p:cNvPr id="7" name="Shape"/>
          <p:cNvSpPr txBox="1"/>
          <p:nvPr/>
        </p:nvSpPr>
        <p:spPr>
          <a:xfrm>
            <a:off x="4449233" y="622300"/>
            <a:ext cx="3293533" cy="177800"/>
          </a:xfrm>
          <a:prstGeom prst="rect">
            <a:avLst/>
          </a:prstGeom>
          <a:noFill/>
          <a:ln>
            <a:noFill/>
          </a:ln>
        </p:spPr>
        <p:txBody>
          <a:bodyPr lIns="0" tIns="0" rIns="0" bIns="0" rtlCol="0" anchor="t">
            <a:noAutofit/>
          </a:bodyPr>
          <a:lstStyle/>
          <a:p>
            <a:r>
              <a:rPr lang="en-US" sz="950" b="1" spc="60">
                <a:solidFill>
                  <a:schemeClr val="tx2">
                    <a:alpha val="66000"/>
                  </a:schemeClr>
                </a:solidFill>
                <a:latin typeface="+mn-lt"/>
                <a:cs typeface="+mn-lt"/>
              </a:rPr>
              <a:t xml:space="preserve">02  </a:t>
            </a:r>
            <a:r>
              <a:rPr lang="en-US" sz="950" b="0" spc="40" cap="all">
                <a:solidFill>
                  <a:schemeClr val="tx2">
                    <a:alpha val="66000"/>
                  </a:schemeClr>
                </a:solidFill>
                <a:latin typeface="+mn-lt"/>
                <a:cs typeface="+mn-lt"/>
              </a:rPr>
              <a:t xml:space="preserve">Measure the interface</a:t>
            </a:r>
          </a:p>
        </p:txBody>
      </p:sp>
      <p:sp>
        <p:nvSpPr>
          <p:cNvPr id="8" name="Chain 03"/>
          <p:cNvSpPr/>
          <p:nvPr/>
        </p:nvSpPr>
        <p:spPr>
          <a:xfrm>
            <a:off x="7958667" y="558800"/>
            <a:ext cx="3522133" cy="279400"/>
          </a:xfrm>
          <a:prstGeom prst="rect">
            <a:avLst/>
          </a:prstGeom>
          <a:solidFill>
            <a:schemeClr val="accent1"/>
          </a:solidFill>
          <a:ln>
            <a:noFill/>
          </a:ln>
        </p:spPr>
        <p:txBody>
          <a:bodyPr/>
          <a:lstStyle/>
          <a:p/>
        </p:txBody>
      </p:sp>
      <p:sp>
        <p:nvSpPr>
          <p:cNvPr id="9" name="Shape"/>
          <p:cNvSpPr txBox="1"/>
          <p:nvPr/>
        </p:nvSpPr>
        <p:spPr>
          <a:xfrm>
            <a:off x="8072967" y="622300"/>
            <a:ext cx="3293533" cy="177800"/>
          </a:xfrm>
          <a:prstGeom prst="rect">
            <a:avLst/>
          </a:prstGeom>
          <a:noFill/>
          <a:ln>
            <a:noFill/>
          </a:ln>
        </p:spPr>
        <p:txBody>
          <a:bodyPr lIns="0" tIns="0" rIns="0" bIns="0" rtlCol="0" anchor="t">
            <a:noAutofit/>
          </a:bodyPr>
          <a:lstStyle/>
          <a:p>
            <a:r>
              <a:rPr lang="en-US" sz="950" b="1" spc="60">
                <a:solidFill>
                  <a:schemeClr val="bg1"/>
                </a:solidFill>
                <a:latin typeface="+mn-lt"/>
                <a:cs typeface="+mn-lt"/>
              </a:rPr>
              <a:t xml:space="preserve">03  </a:t>
            </a:r>
            <a:r>
              <a:rPr lang="en-US" sz="950" b="1" spc="40" cap="all">
                <a:solidFill>
                  <a:schemeClr val="bg1"/>
                </a:solidFill>
                <a:latin typeface="+mn-lt"/>
                <a:cs typeface="+mn-lt"/>
              </a:rPr>
              <a:t xml:space="preserve">Design the compounds</a:t>
            </a:r>
          </a:p>
        </p:txBody>
      </p:sp>
      <p:sp>
        <p:nvSpPr>
          <p:cNvPr id="10" name="Shape"/>
          <p:cNvSpPr txBox="1"/>
          <p:nvPr/>
        </p:nvSpPr>
        <p:spPr>
          <a:xfrm>
            <a:off x="711200" y="1092200"/>
            <a:ext cx="8890000" cy="203200"/>
          </a:xfrm>
          <a:prstGeom prst="rect">
            <a:avLst/>
          </a:prstGeom>
          <a:noFill/>
          <a:ln>
            <a:noFill/>
          </a:ln>
        </p:spPr>
        <p:txBody>
          <a:bodyPr lIns="0" tIns="0" rIns="0" bIns="0" rtlCol="0" anchor="t">
            <a:noAutofit/>
          </a:bodyPr>
          <a:lstStyle/>
          <a:p>
            <a:r>
              <a:rPr lang="en-US" sz="1050" b="1" spc="120" cap="all">
                <a:solidFill>
                  <a:schemeClr val="accent1"/>
                </a:solidFill>
                <a:latin typeface="+mn-lt"/>
                <a:cs typeface="+mn-lt"/>
              </a:rPr>
              <a:t xml:space="preserve">Task 2 · Glue Forge</a:t>
            </a:r>
          </a:p>
        </p:txBody>
      </p:sp>
      <p:sp>
        <p:nvSpPr>
          <p:cNvPr id="11" name="Shape"/>
          <p:cNvSpPr txBox="1"/>
          <p:nvPr/>
        </p:nvSpPr>
        <p:spPr>
          <a:xfrm>
            <a:off x="711200" y="1346200"/>
            <a:ext cx="10769600" cy="1143000"/>
          </a:xfrm>
          <a:prstGeom prst="rect">
            <a:avLst/>
          </a:prstGeom>
          <a:noFill/>
          <a:ln>
            <a:noFill/>
          </a:ln>
        </p:spPr>
        <p:txBody>
          <a:bodyPr lIns="0" tIns="0" rIns="0" bIns="0" rtlCol="0" anchor="t">
            <a:normAutofit/>
          </a:bodyPr>
          <a:lstStyle/>
          <a:p>
            <a:pPr>
              <a:lnSpc>
                <a:spcPct val="120000"/>
              </a:lnSpc>
            </a:pPr>
            <a:r>
              <a:rPr lang="en-US" sz="3000" b="0">
                <a:solidFill>
                  <a:schemeClr val="tx2"/>
                </a:solidFill>
                <a:latin typeface="+mj-lt"/>
                <a:cs typeface="+mj-lt"/>
              </a:rPr>
              <a:t xml:space="preserve">Tool 3 — </a:t>
            </a:r>
            <a:r>
              <a:rPr lang="en-US" sz="3000" b="1">
                <a:solidFill>
                  <a:schemeClr val="tx1"/>
                </a:solidFill>
                <a:latin typeface="+mj-lt"/>
                <a:cs typeface="+mj-lt"/>
              </a:rPr>
              <a:t xml:space="preserve">design tool</a:t>
            </a:r>
            <a:r>
              <a:rPr lang="en-US" sz="3000" b="0">
                <a:solidFill>
                  <a:schemeClr val="tx2"/>
                </a:solidFill>
                <a:latin typeface="+mj-lt"/>
                <a:cs typeface="+mj-lt"/>
              </a:rPr>
              <a:t xml:space="preserve"> that turns a modelled interface into a purchasable compound set</a:t>
            </a:r>
          </a:p>
        </p:txBody>
      </p:sp>
      <p:sp>
        <p:nvSpPr>
          <p:cNvPr id="12" name="Shape"/>
          <p:cNvSpPr txBox="1"/>
          <p:nvPr/>
        </p:nvSpPr>
        <p:spPr>
          <a:xfrm>
            <a:off x="711200" y="2616200"/>
            <a:ext cx="10769600" cy="203200"/>
          </a:xfrm>
          <a:prstGeom prst="rect">
            <a:avLst/>
          </a:prstGeom>
          <a:noFill/>
          <a:ln>
            <a:noFill/>
          </a:ln>
        </p:spPr>
        <p:txBody>
          <a:bodyPr lIns="0" tIns="0" rIns="0" bIns="0" rtlCol="0" anchor="t">
            <a:normAutofit/>
          </a:bodyPr>
          <a:lstStyle/>
          <a:p>
            <a:r>
              <a:rPr lang="en-US" sz="1000" b="1" spc="90" cap="all">
                <a:solidFill>
                  <a:schemeClr val="tx2">
                    <a:alpha val="66000"/>
                  </a:schemeClr>
                </a:solidFill>
                <a:latin typeface="+mn-lt"/>
                <a:cs typeface="+mn-lt"/>
              </a:rPr>
              <a:t xml:space="preserve">Built as  </a:t>
            </a:r>
            <a:r>
              <a:rPr lang="en-US" sz="1100">
                <a:solidFill>
                  <a:schemeClr val="tx2"/>
                </a:solidFill>
                <a:latin typeface="+mn-lt"/>
                <a:cs typeface="+mn-lt"/>
              </a:rPr>
              <a:t xml:space="preserve">Glue Forge  ·  glue_library_100.xlsx  ·  chemlib.py</a:t>
            </a:r>
          </a:p>
        </p:txBody>
      </p:sp>
      <p:sp>
        <p:nvSpPr>
          <p:cNvPr id="13" name="Shape"/>
          <p:cNvSpPr/>
          <p:nvPr/>
        </p:nvSpPr>
        <p:spPr>
          <a:xfrm>
            <a:off x="711200" y="3073400"/>
            <a:ext cx="10769600" cy="12700"/>
          </a:xfrm>
          <a:prstGeom prst="rect">
            <a:avLst/>
          </a:prstGeom>
          <a:solidFill>
            <a:schemeClr val="tx1">
              <a:alpha val="16000"/>
            </a:schemeClr>
          </a:solidFill>
          <a:ln>
            <a:noFill/>
          </a:ln>
        </p:spPr>
        <p:txBody>
          <a:bodyPr/>
          <a:lstStyle/>
          <a:p/>
        </p:txBody>
      </p:sp>
      <p:sp>
        <p:nvSpPr>
          <p:cNvPr id="14" name="Shape"/>
          <p:cNvSpPr/>
          <p:nvPr/>
        </p:nvSpPr>
        <p:spPr>
          <a:xfrm>
            <a:off x="711200" y="3810000"/>
            <a:ext cx="279400" cy="25400"/>
          </a:xfrm>
          <a:prstGeom prst="rect">
            <a:avLst/>
          </a:prstGeom>
          <a:solidFill>
            <a:schemeClr val="tx1">
              <a:alpha val="16000"/>
            </a:schemeClr>
          </a:solidFill>
          <a:ln>
            <a:noFill/>
          </a:ln>
        </p:spPr>
        <p:txBody>
          <a:bodyPr/>
          <a:lstStyle/>
          <a:p/>
        </p:txBody>
      </p:sp>
      <p:sp>
        <p:nvSpPr>
          <p:cNvPr id="15" name="Shape"/>
          <p:cNvSpPr txBox="1"/>
          <p:nvPr/>
        </p:nvSpPr>
        <p:spPr>
          <a:xfrm>
            <a:off x="711200" y="39878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Why it exists</a:t>
            </a:r>
          </a:p>
        </p:txBody>
      </p:sp>
      <p:sp>
        <p:nvSpPr>
          <p:cNvPr id="16" name="Shape"/>
          <p:cNvSpPr txBox="1"/>
          <p:nvPr/>
        </p:nvSpPr>
        <p:spPr>
          <a:xfrm>
            <a:off x="711200" y="43942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Every molecular glue so far was found by screening, not designed.</a:t>
            </a:r>
          </a:p>
        </p:txBody>
      </p:sp>
      <p:sp>
        <p:nvSpPr>
          <p:cNvPr id="17" name="Shape"/>
          <p:cNvSpPr/>
          <p:nvPr/>
        </p:nvSpPr>
        <p:spPr>
          <a:xfrm>
            <a:off x="4402667" y="3810000"/>
            <a:ext cx="279400" cy="25400"/>
          </a:xfrm>
          <a:prstGeom prst="rect">
            <a:avLst/>
          </a:prstGeom>
          <a:solidFill>
            <a:schemeClr val="tx1">
              <a:alpha val="16000"/>
            </a:schemeClr>
          </a:solidFill>
          <a:ln>
            <a:noFill/>
          </a:ln>
        </p:spPr>
        <p:txBody>
          <a:bodyPr/>
          <a:lstStyle/>
          <a:p/>
        </p:txBody>
      </p:sp>
      <p:sp>
        <p:nvSpPr>
          <p:cNvPr id="18" name="Shape"/>
          <p:cNvSpPr txBox="1"/>
          <p:nvPr/>
        </p:nvSpPr>
        <p:spPr>
          <a:xfrm>
            <a:off x="4402667" y="39878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What it draws on</a:t>
            </a:r>
          </a:p>
        </p:txBody>
      </p:sp>
      <p:sp>
        <p:nvSpPr>
          <p:cNvPr id="19" name="Shape"/>
          <p:cNvSpPr txBox="1"/>
          <p:nvPr/>
        </p:nvSpPr>
        <p:spPr>
          <a:xfrm>
            <a:off x="4402667" y="43942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The interface map, known ligase-binder series, and make-on-demand catalogues.</a:t>
            </a:r>
          </a:p>
        </p:txBody>
      </p:sp>
      <p:sp>
        <p:nvSpPr>
          <p:cNvPr id="20" name="Shape"/>
          <p:cNvSpPr/>
          <p:nvPr/>
        </p:nvSpPr>
        <p:spPr>
          <a:xfrm>
            <a:off x="8094133" y="3810000"/>
            <a:ext cx="279400" cy="25400"/>
          </a:xfrm>
          <a:prstGeom prst="rect">
            <a:avLst/>
          </a:prstGeom>
          <a:solidFill>
            <a:schemeClr val="accent1"/>
          </a:solidFill>
          <a:ln>
            <a:noFill/>
          </a:ln>
        </p:spPr>
        <p:txBody>
          <a:bodyPr/>
          <a:lstStyle/>
          <a:p/>
        </p:txBody>
      </p:sp>
      <p:sp>
        <p:nvSpPr>
          <p:cNvPr id="21" name="Shape"/>
          <p:cNvSpPr txBox="1"/>
          <p:nvPr/>
        </p:nvSpPr>
        <p:spPr>
          <a:xfrm>
            <a:off x="8094133" y="39878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accent1"/>
                </a:solidFill>
                <a:latin typeface="+mn-lt"/>
                <a:cs typeface="+mn-lt"/>
              </a:rPr>
              <a:t xml:space="preserve">What comes out</a:t>
            </a:r>
          </a:p>
        </p:txBody>
      </p:sp>
      <p:sp>
        <p:nvSpPr>
          <p:cNvPr id="22" name="Shape"/>
          <p:cNvSpPr txBox="1"/>
          <p:nvPr/>
        </p:nvSpPr>
        <p:spPr>
          <a:xfrm>
            <a:off x="8094133" y="43942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1"/>
                </a:solidFill>
                <a:latin typeface="+mn-lt"/>
                <a:cs typeface="+mn-lt"/>
              </a:rPr>
              <a:t xml:space="preserve">About a hundred compounds in hypothesis series — a virtual screen against the interface, ranked and ready to order.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15 / 20</a:t>
            </a:r>
          </a:p>
        </p:txBody>
      </p:sp>
      <p:sp>
        <p:nvSpPr>
          <p:cNvPr id="4" name="Shape"/>
          <p:cNvSpPr txBox="1"/>
          <p:nvPr/>
        </p:nvSpPr>
        <p:spPr>
          <a:xfrm>
            <a:off x="711200" y="685800"/>
            <a:ext cx="8890000" cy="203200"/>
          </a:xfrm>
          <a:prstGeom prst="rect">
            <a:avLst/>
          </a:prstGeom>
          <a:noFill/>
          <a:ln>
            <a:noFill/>
          </a:ln>
        </p:spPr>
        <p:txBody>
          <a:bodyPr lIns="0" tIns="0" rIns="0" bIns="0" rtlCol="0" anchor="t">
            <a:noAutofit/>
          </a:bodyPr>
          <a:lstStyle/>
          <a:p>
            <a:r>
              <a:rPr lang="en-US" sz="1050" b="1" spc="120" cap="all">
                <a:solidFill>
                  <a:schemeClr val="accent1"/>
                </a:solidFill>
                <a:latin typeface="+mn-lt"/>
                <a:cs typeface="+mn-lt"/>
              </a:rPr>
              <a:t xml:space="preserve">Task 2 — the workflow</a:t>
            </a:r>
          </a:p>
        </p:txBody>
      </p:sp>
      <p:sp>
        <p:nvSpPr>
          <p:cNvPr id="5" name="Shape"/>
          <p:cNvSpPr txBox="1"/>
          <p:nvPr/>
        </p:nvSpPr>
        <p:spPr>
          <a:xfrm>
            <a:off x="711200" y="965200"/>
            <a:ext cx="10769600" cy="584200"/>
          </a:xfrm>
          <a:prstGeom prst="rect">
            <a:avLst/>
          </a:prstGeom>
          <a:noFill/>
          <a:ln>
            <a:noFill/>
          </a:ln>
        </p:spPr>
        <p:txBody>
          <a:bodyPr lIns="0" tIns="0" rIns="0" bIns="0" rtlCol="0" anchor="t">
            <a:noAutofit/>
          </a:bodyPr>
          <a:lstStyle/>
          <a:p>
            <a:r>
              <a:rPr lang="en-US" sz="3000">
                <a:solidFill>
                  <a:schemeClr val="tx1"/>
                </a:solidFill>
                <a:latin typeface="+mj-lt"/>
                <a:cs typeface="+mj-lt"/>
              </a:rPr>
              <a:t xml:space="preserve">Each tool narrows what the next one sees</a:t>
            </a:r>
          </a:p>
        </p:txBody>
      </p:sp>
      <p:sp>
        <p:nvSpPr>
          <p:cNvPr id="6" name="Shape"/>
          <p:cNvSpPr/>
          <p:nvPr/>
        </p:nvSpPr>
        <p:spPr>
          <a:xfrm>
            <a:off x="711200" y="1701800"/>
            <a:ext cx="10769600" cy="12700"/>
          </a:xfrm>
          <a:prstGeom prst="rect">
            <a:avLst/>
          </a:prstGeom>
          <a:solidFill>
            <a:schemeClr val="tx1">
              <a:alpha val="16000"/>
            </a:schemeClr>
          </a:solidFill>
          <a:ln>
            <a:noFill/>
          </a:ln>
        </p:spPr>
        <p:txBody>
          <a:bodyPr/>
          <a:lstStyle/>
          <a:p/>
        </p:txBody>
      </p:sp>
      <p:sp>
        <p:nvSpPr>
          <p:cNvPr id="7" name="Shape"/>
          <p:cNvSpPr/>
          <p:nvPr/>
        </p:nvSpPr>
        <p:spPr>
          <a:xfrm>
            <a:off x="711200" y="2184400"/>
            <a:ext cx="3437467" cy="2159000"/>
          </a:xfrm>
          <a:prstGeom prst="roundRect">
            <a:avLst>
              <a:gd name="adj" fmla="val 1800"/>
            </a:avLst>
          </a:prstGeom>
          <a:solidFill>
            <a:schemeClr val="tx1">
              <a:alpha val="10000"/>
            </a:schemeClr>
          </a:solidFill>
          <a:ln>
            <a:noFill/>
          </a:ln>
        </p:spPr>
        <p:txBody>
          <a:bodyPr/>
          <a:lstStyle/>
          <a:p/>
        </p:txBody>
      </p:sp>
      <p:sp>
        <p:nvSpPr>
          <p:cNvPr id="8" name="Shape"/>
          <p:cNvSpPr/>
          <p:nvPr/>
        </p:nvSpPr>
        <p:spPr>
          <a:xfrm>
            <a:off x="711200" y="2184400"/>
            <a:ext cx="3437467" cy="25400"/>
          </a:xfrm>
          <a:prstGeom prst="rect">
            <a:avLst/>
          </a:prstGeom>
          <a:solidFill>
            <a:schemeClr val="accent1"/>
          </a:solidFill>
          <a:ln>
            <a:noFill/>
          </a:ln>
        </p:spPr>
        <p:txBody>
          <a:bodyPr/>
          <a:lstStyle/>
          <a:p/>
        </p:txBody>
      </p:sp>
      <p:sp>
        <p:nvSpPr>
          <p:cNvPr id="9" name="Shape"/>
          <p:cNvSpPr txBox="1"/>
          <p:nvPr/>
        </p:nvSpPr>
        <p:spPr>
          <a:xfrm>
            <a:off x="901700" y="2362200"/>
            <a:ext cx="3056467" cy="584200"/>
          </a:xfrm>
          <a:prstGeom prst="rect">
            <a:avLst/>
          </a:prstGeom>
          <a:noFill/>
          <a:ln>
            <a:noFill/>
          </a:ln>
        </p:spPr>
        <p:txBody>
          <a:bodyPr lIns="0" tIns="0" rIns="0" bIns="0" rtlCol="0" anchor="t">
            <a:normAutofit/>
          </a:bodyPr>
          <a:lstStyle/>
          <a:p>
            <a:r>
              <a:rPr lang="en-US" sz="850" b="1" spc="100" cap="all">
                <a:solidFill>
                  <a:schemeClr val="tx2">
                    <a:alpha val="66000"/>
                  </a:schemeClr>
                </a:solidFill>
                <a:latin typeface="+mn-lt"/>
                <a:cs typeface="+mn-lt"/>
              </a:rPr>
              <a:t xml:space="preserve">In</a:t>
            </a:r>
          </a:p>
          <a:p>
            <a:pPr>
              <a:lnSpc>
                <a:spcPct val="130000"/>
              </a:lnSpc>
            </a:pPr>
            <a:r>
              <a:rPr lang="en-US" sz="1100">
                <a:solidFill>
                  <a:schemeClr val="tx2"/>
                </a:solidFill>
                <a:latin typeface="+mn-lt"/>
                <a:cs typeface="+mn-lt"/>
              </a:rPr>
              <a:t xml:space="preserve">Public databases, expression and structures</a:t>
            </a:r>
          </a:p>
        </p:txBody>
      </p:sp>
      <p:sp>
        <p:nvSpPr>
          <p:cNvPr id="10" name="Shape"/>
          <p:cNvSpPr txBox="1"/>
          <p:nvPr/>
        </p:nvSpPr>
        <p:spPr>
          <a:xfrm>
            <a:off x="901700" y="3073400"/>
            <a:ext cx="3056467" cy="457200"/>
          </a:xfrm>
          <a:prstGeom prst="rect">
            <a:avLst/>
          </a:prstGeom>
          <a:noFill/>
          <a:ln>
            <a:noFill/>
          </a:ln>
        </p:spPr>
        <p:txBody>
          <a:bodyPr lIns="0" tIns="0" rIns="0" bIns="0" rtlCol="0" anchor="t">
            <a:normAutofit/>
          </a:bodyPr>
          <a:lstStyle/>
          <a:p>
            <a:pPr>
              <a:lnSpc>
                <a:spcPct val="125000"/>
              </a:lnSpc>
            </a:pPr>
            <a:r>
              <a:rPr lang="en-US" sz="1400" b="1">
                <a:solidFill>
                  <a:schemeClr val="tx1"/>
                </a:solidFill>
                <a:latin typeface="+mn-lt"/>
                <a:cs typeface="+mn-lt"/>
              </a:rPr>
              <a:t xml:space="preserve">01  Target Nomination</a:t>
            </a:r>
          </a:p>
        </p:txBody>
      </p:sp>
      <p:sp>
        <p:nvSpPr>
          <p:cNvPr id="11" name="Shape"/>
          <p:cNvSpPr txBox="1"/>
          <p:nvPr/>
        </p:nvSpPr>
        <p:spPr>
          <a:xfrm>
            <a:off x="901700" y="3606800"/>
            <a:ext cx="3056467" cy="609600"/>
          </a:xfrm>
          <a:prstGeom prst="rect">
            <a:avLst/>
          </a:prstGeom>
          <a:noFill/>
          <a:ln>
            <a:noFill/>
          </a:ln>
        </p:spPr>
        <p:txBody>
          <a:bodyPr lIns="0" tIns="0" rIns="0" bIns="0" rtlCol="0" anchor="t">
            <a:normAutofit/>
          </a:bodyPr>
          <a:lstStyle/>
          <a:p>
            <a:r>
              <a:rPr lang="en-US" sz="850" b="1" spc="100" cap="all">
                <a:solidFill>
                  <a:schemeClr val="accent1"/>
                </a:solidFill>
                <a:latin typeface="+mn-lt"/>
                <a:cs typeface="+mn-lt"/>
              </a:rPr>
              <a:t xml:space="preserve">Out</a:t>
            </a:r>
          </a:p>
          <a:p>
            <a:pPr>
              <a:lnSpc>
                <a:spcPct val="130000"/>
              </a:lnSpc>
            </a:pPr>
            <a:r>
              <a:rPr lang="en-US" sz="1100">
                <a:solidFill>
                  <a:schemeClr val="tx1"/>
                </a:solidFill>
                <a:latin typeface="+mn-lt"/>
                <a:cs typeface="+mn-lt"/>
              </a:rPr>
              <a:t xml:space="preserve">Target–ligase pairs, with an interface</a:t>
            </a:r>
          </a:p>
        </p:txBody>
      </p:sp>
      <p:sp>
        <p:nvSpPr>
          <p:cNvPr id="12" name="Flow"/>
          <p:cNvSpPr/>
          <p:nvPr/>
        </p:nvSpPr>
        <p:spPr>
          <a:xfrm>
            <a:off x="4186767" y="3257550"/>
            <a:ext cx="152400" cy="1"/>
          </a:xfrm>
          <a:prstGeom prst="line">
            <a:avLst/>
          </a:prstGeom>
          <a:noFill/>
          <a:ln w="15875">
            <a:solidFill>
              <a:schemeClr val="accent1"/>
            </a:solidFill>
            <a:prstDash val="solid"/>
            <a:miter lim="800000"/>
            <a:tailEnd type="triangle" w="med" len="med"/>
          </a:ln>
        </p:spPr>
        <p:txBody>
          <a:bodyPr/>
          <a:lstStyle/>
          <a:p/>
        </p:txBody>
      </p:sp>
      <p:sp>
        <p:nvSpPr>
          <p:cNvPr id="13" name="Shape"/>
          <p:cNvSpPr/>
          <p:nvPr/>
        </p:nvSpPr>
        <p:spPr>
          <a:xfrm>
            <a:off x="4377267" y="2184400"/>
            <a:ext cx="3437467" cy="2159000"/>
          </a:xfrm>
          <a:prstGeom prst="roundRect">
            <a:avLst>
              <a:gd name="adj" fmla="val 1800"/>
            </a:avLst>
          </a:prstGeom>
          <a:solidFill>
            <a:schemeClr val="tx1">
              <a:alpha val="10000"/>
            </a:schemeClr>
          </a:solidFill>
          <a:ln>
            <a:noFill/>
          </a:ln>
        </p:spPr>
        <p:txBody>
          <a:bodyPr/>
          <a:lstStyle/>
          <a:p/>
        </p:txBody>
      </p:sp>
      <p:sp>
        <p:nvSpPr>
          <p:cNvPr id="14" name="Shape"/>
          <p:cNvSpPr/>
          <p:nvPr/>
        </p:nvSpPr>
        <p:spPr>
          <a:xfrm>
            <a:off x="4377267" y="2184400"/>
            <a:ext cx="3437467" cy="25400"/>
          </a:xfrm>
          <a:prstGeom prst="rect">
            <a:avLst/>
          </a:prstGeom>
          <a:solidFill>
            <a:schemeClr val="accent1"/>
          </a:solidFill>
          <a:ln>
            <a:noFill/>
          </a:ln>
        </p:spPr>
        <p:txBody>
          <a:bodyPr/>
          <a:lstStyle/>
          <a:p/>
        </p:txBody>
      </p:sp>
      <p:sp>
        <p:nvSpPr>
          <p:cNvPr id="15" name="Shape"/>
          <p:cNvSpPr txBox="1"/>
          <p:nvPr/>
        </p:nvSpPr>
        <p:spPr>
          <a:xfrm>
            <a:off x="4567767" y="2362200"/>
            <a:ext cx="3056467" cy="584200"/>
          </a:xfrm>
          <a:prstGeom prst="rect">
            <a:avLst/>
          </a:prstGeom>
          <a:noFill/>
          <a:ln>
            <a:noFill/>
          </a:ln>
        </p:spPr>
        <p:txBody>
          <a:bodyPr lIns="0" tIns="0" rIns="0" bIns="0" rtlCol="0" anchor="t">
            <a:normAutofit/>
          </a:bodyPr>
          <a:lstStyle/>
          <a:p>
            <a:r>
              <a:rPr lang="en-US" sz="850" b="1" spc="100" cap="all">
                <a:solidFill>
                  <a:schemeClr val="tx2">
                    <a:alpha val="66000"/>
                  </a:schemeClr>
                </a:solidFill>
                <a:latin typeface="+mn-lt"/>
                <a:cs typeface="+mn-lt"/>
              </a:rPr>
              <a:t xml:space="preserve">In</a:t>
            </a:r>
          </a:p>
          <a:p>
            <a:pPr>
              <a:lnSpc>
                <a:spcPct val="130000"/>
              </a:lnSpc>
            </a:pPr>
            <a:r>
              <a:rPr lang="en-US" sz="1100">
                <a:solidFill>
                  <a:schemeClr val="tx2"/>
                </a:solidFill>
                <a:latin typeface="+mn-lt"/>
                <a:cs typeface="+mn-lt"/>
              </a:rPr>
              <a:t xml:space="preserve">Two structures</a:t>
            </a:r>
          </a:p>
        </p:txBody>
      </p:sp>
      <p:sp>
        <p:nvSpPr>
          <p:cNvPr id="16" name="Shape"/>
          <p:cNvSpPr txBox="1"/>
          <p:nvPr/>
        </p:nvSpPr>
        <p:spPr>
          <a:xfrm>
            <a:off x="4567767" y="3073400"/>
            <a:ext cx="3056467" cy="457200"/>
          </a:xfrm>
          <a:prstGeom prst="rect">
            <a:avLst/>
          </a:prstGeom>
          <a:noFill/>
          <a:ln>
            <a:noFill/>
          </a:ln>
        </p:spPr>
        <p:txBody>
          <a:bodyPr lIns="0" tIns="0" rIns="0" bIns="0" rtlCol="0" anchor="t">
            <a:normAutofit/>
          </a:bodyPr>
          <a:lstStyle/>
          <a:p>
            <a:pPr>
              <a:lnSpc>
                <a:spcPct val="125000"/>
              </a:lnSpc>
            </a:pPr>
            <a:r>
              <a:rPr lang="en-US" sz="1400" b="1">
                <a:solidFill>
                  <a:schemeClr val="tx1"/>
                </a:solidFill>
                <a:latin typeface="+mn-lt"/>
                <a:cs typeface="+mn-lt"/>
              </a:rPr>
              <a:t xml:space="preserve">02  Omni Tool</a:t>
            </a:r>
          </a:p>
        </p:txBody>
      </p:sp>
      <p:sp>
        <p:nvSpPr>
          <p:cNvPr id="17" name="Shape"/>
          <p:cNvSpPr txBox="1"/>
          <p:nvPr/>
        </p:nvSpPr>
        <p:spPr>
          <a:xfrm>
            <a:off x="4567767" y="3606800"/>
            <a:ext cx="3056467" cy="609600"/>
          </a:xfrm>
          <a:prstGeom prst="rect">
            <a:avLst/>
          </a:prstGeom>
          <a:noFill/>
          <a:ln>
            <a:noFill/>
          </a:ln>
        </p:spPr>
        <p:txBody>
          <a:bodyPr lIns="0" tIns="0" rIns="0" bIns="0" rtlCol="0" anchor="t">
            <a:normAutofit/>
          </a:bodyPr>
          <a:lstStyle/>
          <a:p>
            <a:r>
              <a:rPr lang="en-US" sz="850" b="1" spc="100" cap="all">
                <a:solidFill>
                  <a:schemeClr val="accent1"/>
                </a:solidFill>
                <a:latin typeface="+mn-lt"/>
                <a:cs typeface="+mn-lt"/>
              </a:rPr>
              <a:t xml:space="preserve">Out</a:t>
            </a:r>
          </a:p>
          <a:p>
            <a:pPr>
              <a:lnSpc>
                <a:spcPct val="130000"/>
              </a:lnSpc>
            </a:pPr>
            <a:r>
              <a:rPr lang="en-US" sz="1100">
                <a:solidFill>
                  <a:schemeClr val="tx1"/>
                </a:solidFill>
                <a:latin typeface="+mn-lt"/>
                <a:cs typeface="+mn-lt"/>
              </a:rPr>
              <a:t xml:space="preserve">What is geometrically possible</a:t>
            </a:r>
          </a:p>
        </p:txBody>
      </p:sp>
      <p:sp>
        <p:nvSpPr>
          <p:cNvPr id="18" name="Flow"/>
          <p:cNvSpPr/>
          <p:nvPr/>
        </p:nvSpPr>
        <p:spPr>
          <a:xfrm>
            <a:off x="7852833" y="3257550"/>
            <a:ext cx="152400" cy="1"/>
          </a:xfrm>
          <a:prstGeom prst="line">
            <a:avLst/>
          </a:prstGeom>
          <a:noFill/>
          <a:ln w="15875">
            <a:solidFill>
              <a:schemeClr val="accent1"/>
            </a:solidFill>
            <a:prstDash val="solid"/>
            <a:miter lim="800000"/>
            <a:tailEnd type="triangle" w="med" len="med"/>
          </a:ln>
        </p:spPr>
        <p:txBody>
          <a:bodyPr/>
          <a:lstStyle/>
          <a:p/>
        </p:txBody>
      </p:sp>
      <p:sp>
        <p:nvSpPr>
          <p:cNvPr id="19" name="Shape"/>
          <p:cNvSpPr/>
          <p:nvPr/>
        </p:nvSpPr>
        <p:spPr>
          <a:xfrm>
            <a:off x="8043333" y="2184400"/>
            <a:ext cx="3437467" cy="2159000"/>
          </a:xfrm>
          <a:prstGeom prst="roundRect">
            <a:avLst>
              <a:gd name="adj" fmla="val 1800"/>
            </a:avLst>
          </a:prstGeom>
          <a:solidFill>
            <a:schemeClr val="tx1">
              <a:alpha val="10000"/>
            </a:schemeClr>
          </a:solidFill>
          <a:ln>
            <a:noFill/>
          </a:ln>
        </p:spPr>
        <p:txBody>
          <a:bodyPr/>
          <a:lstStyle/>
          <a:p/>
        </p:txBody>
      </p:sp>
      <p:sp>
        <p:nvSpPr>
          <p:cNvPr id="20" name="Shape"/>
          <p:cNvSpPr/>
          <p:nvPr/>
        </p:nvSpPr>
        <p:spPr>
          <a:xfrm>
            <a:off x="8043333" y="2184400"/>
            <a:ext cx="3437467" cy="25400"/>
          </a:xfrm>
          <a:prstGeom prst="rect">
            <a:avLst/>
          </a:prstGeom>
          <a:solidFill>
            <a:schemeClr val="accent1"/>
          </a:solidFill>
          <a:ln>
            <a:noFill/>
          </a:ln>
        </p:spPr>
        <p:txBody>
          <a:bodyPr/>
          <a:lstStyle/>
          <a:p/>
        </p:txBody>
      </p:sp>
      <p:sp>
        <p:nvSpPr>
          <p:cNvPr id="21" name="Shape"/>
          <p:cNvSpPr txBox="1"/>
          <p:nvPr/>
        </p:nvSpPr>
        <p:spPr>
          <a:xfrm>
            <a:off x="8233833" y="2362200"/>
            <a:ext cx="3056467" cy="584200"/>
          </a:xfrm>
          <a:prstGeom prst="rect">
            <a:avLst/>
          </a:prstGeom>
          <a:noFill/>
          <a:ln>
            <a:noFill/>
          </a:ln>
        </p:spPr>
        <p:txBody>
          <a:bodyPr lIns="0" tIns="0" rIns="0" bIns="0" rtlCol="0" anchor="t">
            <a:normAutofit/>
          </a:bodyPr>
          <a:lstStyle/>
          <a:p>
            <a:r>
              <a:rPr lang="en-US" sz="850" b="1" spc="100" cap="all">
                <a:solidFill>
                  <a:schemeClr val="tx2">
                    <a:alpha val="66000"/>
                  </a:schemeClr>
                </a:solidFill>
                <a:latin typeface="+mn-lt"/>
                <a:cs typeface="+mn-lt"/>
              </a:rPr>
              <a:t xml:space="preserve">In</a:t>
            </a:r>
          </a:p>
          <a:p>
            <a:pPr>
              <a:lnSpc>
                <a:spcPct val="130000"/>
              </a:lnSpc>
            </a:pPr>
            <a:r>
              <a:rPr lang="en-US" sz="1100">
                <a:solidFill>
                  <a:schemeClr val="tx2"/>
                </a:solidFill>
                <a:latin typeface="+mn-lt"/>
                <a:cs typeface="+mn-lt"/>
              </a:rPr>
              <a:t xml:space="preserve">The interface map</a:t>
            </a:r>
          </a:p>
        </p:txBody>
      </p:sp>
      <p:sp>
        <p:nvSpPr>
          <p:cNvPr id="22" name="Shape"/>
          <p:cNvSpPr txBox="1"/>
          <p:nvPr/>
        </p:nvSpPr>
        <p:spPr>
          <a:xfrm>
            <a:off x="8233833" y="3073400"/>
            <a:ext cx="3056467" cy="457200"/>
          </a:xfrm>
          <a:prstGeom prst="rect">
            <a:avLst/>
          </a:prstGeom>
          <a:noFill/>
          <a:ln>
            <a:noFill/>
          </a:ln>
        </p:spPr>
        <p:txBody>
          <a:bodyPr lIns="0" tIns="0" rIns="0" bIns="0" rtlCol="0" anchor="t">
            <a:normAutofit/>
          </a:bodyPr>
          <a:lstStyle/>
          <a:p>
            <a:pPr>
              <a:lnSpc>
                <a:spcPct val="125000"/>
              </a:lnSpc>
            </a:pPr>
            <a:r>
              <a:rPr lang="en-US" sz="1400" b="1">
                <a:solidFill>
                  <a:schemeClr val="tx1"/>
                </a:solidFill>
                <a:latin typeface="+mn-lt"/>
                <a:cs typeface="+mn-lt"/>
              </a:rPr>
              <a:t xml:space="preserve">03  Glue Forge</a:t>
            </a:r>
          </a:p>
        </p:txBody>
      </p:sp>
      <p:sp>
        <p:nvSpPr>
          <p:cNvPr id="23" name="Shape"/>
          <p:cNvSpPr txBox="1"/>
          <p:nvPr/>
        </p:nvSpPr>
        <p:spPr>
          <a:xfrm>
            <a:off x="8233833" y="3606800"/>
            <a:ext cx="3056467" cy="609600"/>
          </a:xfrm>
          <a:prstGeom prst="rect">
            <a:avLst/>
          </a:prstGeom>
          <a:noFill/>
          <a:ln>
            <a:noFill/>
          </a:ln>
        </p:spPr>
        <p:txBody>
          <a:bodyPr lIns="0" tIns="0" rIns="0" bIns="0" rtlCol="0" anchor="t">
            <a:normAutofit/>
          </a:bodyPr>
          <a:lstStyle/>
          <a:p>
            <a:r>
              <a:rPr lang="en-US" sz="850" b="1" spc="100" cap="all">
                <a:solidFill>
                  <a:schemeClr val="accent1"/>
                </a:solidFill>
                <a:latin typeface="+mn-lt"/>
                <a:cs typeface="+mn-lt"/>
              </a:rPr>
              <a:t xml:space="preserve">Out</a:t>
            </a:r>
          </a:p>
          <a:p>
            <a:pPr>
              <a:lnSpc>
                <a:spcPct val="130000"/>
              </a:lnSpc>
            </a:pPr>
            <a:r>
              <a:rPr lang="en-US" sz="1100">
                <a:solidFill>
                  <a:schemeClr val="tx1"/>
                </a:solidFill>
                <a:latin typeface="+mn-lt"/>
                <a:cs typeface="+mn-lt"/>
              </a:rPr>
              <a:t xml:space="preserve">A virtual screen of ~100 compounds</a:t>
            </a:r>
          </a:p>
        </p:txBody>
      </p:sp>
      <p:sp>
        <p:nvSpPr>
          <p:cNvPr id="24" name="Shape"/>
          <p:cNvSpPr txBox="1"/>
          <p:nvPr/>
        </p:nvSpPr>
        <p:spPr>
          <a:xfrm>
            <a:off x="711200" y="4800600"/>
            <a:ext cx="10769600" cy="965200"/>
          </a:xfrm>
          <a:prstGeom prst="rect">
            <a:avLst/>
          </a:prstGeom>
          <a:noFill/>
          <a:ln>
            <a:noFill/>
          </a:ln>
        </p:spPr>
        <p:txBody>
          <a:bodyPr lIns="0" tIns="0" rIns="0" bIns="0" rtlCol="0" anchor="t">
            <a:normAutofit/>
          </a:bodyPr>
          <a:lstStyle/>
          <a:p>
            <a:pPr>
              <a:lnSpc>
                <a:spcPct val="142000"/>
              </a:lnSpc>
              <a:spcAft>
                <a:spcPts val="700"/>
              </a:spcAft>
            </a:pPr>
            <a:r>
              <a:rPr lang="en-US" sz="1300" b="1">
                <a:solidFill>
                  <a:schemeClr val="accent1"/>
                </a:solidFill>
                <a:latin typeface="+mn-lt"/>
                <a:cs typeface="+mn-lt"/>
              </a:rPr>
              <a:t xml:space="preserve">Running.  </a:t>
            </a:r>
            <a:r>
              <a:rPr lang="en-US" sz="1300">
                <a:solidFill>
                  <a:schemeClr val="tx2"/>
                </a:solidFill>
                <a:latin typeface="+mn-lt"/>
                <a:cs typeface="+mn-lt"/>
              </a:rPr>
              <a:t xml:space="preserve">Calibration set, ligase scan and benchmark, all three workbench pages, compound library.</a:t>
            </a:r>
          </a:p>
          <a:p>
            <a:pPr>
              <a:lnSpc>
                <a:spcPct val="142000"/>
              </a:lnSpc>
              <a:spcAft>
                <a:spcPts val="700"/>
              </a:spcAft>
            </a:pPr>
            <a:r>
              <a:rPr lang="en-US" sz="1300" b="1">
                <a:solidFill>
                  <a:schemeClr val="accent3"/>
                </a:solidFill>
                <a:latin typeface="+mn-lt"/>
                <a:cs typeface="+mn-lt"/>
              </a:rPr>
              <a:t xml:space="preserve">Specified.  </a:t>
            </a:r>
            <a:r>
              <a:rPr lang="en-US" sz="1300">
                <a:solidFill>
                  <a:schemeClr val="tx2"/>
                </a:solidFill>
                <a:latin typeface="+mn-lt"/>
                <a:cs typeface="+mn-lt"/>
              </a:rPr>
              <a:t xml:space="preserve">Nomination scoring function; simulation triage before ordering.</a:t>
            </a:r>
          </a:p>
          <a:p>
            <a:pPr>
              <a:lnSpc>
                <a:spcPct val="142000"/>
              </a:lnSpc>
            </a:pPr>
            <a:r>
              <a:rPr lang="en-US" sz="1300" b="1">
                <a:solidFill>
                  <a:schemeClr val="tx2">
                    <a:alpha val="66000"/>
                  </a:schemeClr>
                </a:solidFill>
                <a:latin typeface="+mn-lt"/>
                <a:cs typeface="+mn-lt"/>
              </a:rPr>
              <a:t xml:space="preserve">Not started.  </a:t>
            </a:r>
            <a:r>
              <a:rPr lang="en-US" sz="1300">
                <a:solidFill>
                  <a:schemeClr val="tx2"/>
                </a:solidFill>
                <a:latin typeface="+mn-lt"/>
                <a:cs typeface="+mn-lt"/>
              </a:rPr>
              <a:t xml:space="preserve">Pose ranking, co-expression, scaffolding corpus, one pair end to end.</a:t>
            </a:r>
          </a:p>
        </p:txBody>
      </p:sp>
      <p:sp>
        <p:nvSpPr>
          <p:cNvPr id="25" name="Shape"/>
          <p:cNvSpPr txBox="1"/>
          <p:nvPr/>
        </p:nvSpPr>
        <p:spPr>
          <a:xfrm>
            <a:off x="711200" y="6350000"/>
            <a:ext cx="7874000" cy="203200"/>
          </a:xfrm>
          <a:prstGeom prst="rect">
            <a:avLst/>
          </a:prstGeom>
          <a:noFill/>
          <a:ln>
            <a:noFill/>
          </a:ln>
        </p:spPr>
        <p:txBody>
          <a:bodyPr lIns="0" tIns="0" rIns="0" bIns="0" rtlCol="0" anchor="t">
            <a:noAutofit/>
          </a:bodyPr>
          <a:lstStyle/>
          <a:p>
            <a:r>
              <a:rPr lang="en-US" sz="1000">
                <a:solidFill>
                  <a:schemeClr val="tx2">
                    <a:alpha val="66000"/>
                  </a:schemeClr>
                </a:solidFill>
                <a:latin typeface="+mn-lt"/>
                <a:cs typeface="+mn-lt"/>
              </a:rPr>
              <a:t xml:space="preserve">Lazarski  ·  Proxima  ·  October 2026</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16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What the exercise taught me</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Three things I did not expect: </a:t>
            </a:r>
            <a:r>
              <a:rPr lang="en-US" sz="2500" b="1">
                <a:solidFill>
                  <a:schemeClr val="tx1"/>
                </a:solidFill>
                <a:latin typeface="+mj-lt"/>
                <a:cs typeface="+mj-lt"/>
              </a:rPr>
              <a:t xml:space="preserve">the data, the cost of software, and how the work divides</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p:nvPr/>
        </p:nvSpPr>
        <p:spPr>
          <a:xfrm>
            <a:off x="711200" y="2413000"/>
            <a:ext cx="279400" cy="25400"/>
          </a:xfrm>
          <a:prstGeom prst="rect">
            <a:avLst/>
          </a:prstGeom>
          <a:solidFill>
            <a:schemeClr val="tx1">
              <a:alpha val="16000"/>
            </a:schemeClr>
          </a:solidFill>
          <a:ln>
            <a:noFill/>
          </a:ln>
        </p:spPr>
        <p:txBody>
          <a:bodyPr/>
          <a:lstStyle/>
          <a:p/>
        </p:txBody>
      </p:sp>
      <p:sp>
        <p:nvSpPr>
          <p:cNvPr id="8" name="Shape"/>
          <p:cNvSpPr txBox="1"/>
          <p:nvPr/>
        </p:nvSpPr>
        <p:spPr>
          <a:xfrm>
            <a:off x="711200" y="25908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Endpoints do not transfer</a:t>
            </a:r>
          </a:p>
        </p:txBody>
      </p:sp>
      <p:sp>
        <p:nvSpPr>
          <p:cNvPr id="9" name="Shape"/>
          <p:cNvSpPr txBox="1"/>
          <p:nvPr/>
        </p:nvSpPr>
        <p:spPr>
          <a:xfrm>
            <a:off x="711200" y="29972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Oncology lends an essentiality screen. Inflammation and cardiometabolic disease have none, so evidence was mined by hand — and the weights that rank it are a team decision.</a:t>
            </a:r>
          </a:p>
        </p:txBody>
      </p:sp>
      <p:sp>
        <p:nvSpPr>
          <p:cNvPr id="10" name="Shape"/>
          <p:cNvSpPr/>
          <p:nvPr/>
        </p:nvSpPr>
        <p:spPr>
          <a:xfrm>
            <a:off x="4402667" y="2413000"/>
            <a:ext cx="279400" cy="25400"/>
          </a:xfrm>
          <a:prstGeom prst="rect">
            <a:avLst/>
          </a:prstGeom>
          <a:solidFill>
            <a:schemeClr val="tx1">
              <a:alpha val="16000"/>
            </a:schemeClr>
          </a:solidFill>
          <a:ln>
            <a:noFill/>
          </a:ln>
        </p:spPr>
        <p:txBody>
          <a:bodyPr/>
          <a:lstStyle/>
          <a:p/>
        </p:txBody>
      </p:sp>
      <p:sp>
        <p:nvSpPr>
          <p:cNvPr id="11" name="Shape"/>
          <p:cNvSpPr txBox="1"/>
          <p:nvPr/>
        </p:nvSpPr>
        <p:spPr>
          <a:xfrm>
            <a:off x="4402667" y="25908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Bespoke software is now cheap</a:t>
            </a:r>
          </a:p>
        </p:txBody>
      </p:sp>
      <p:sp>
        <p:nvSpPr>
          <p:cNvPr id="12" name="Shape"/>
          <p:cNvSpPr txBox="1"/>
          <p:nvPr/>
        </p:nvSpPr>
        <p:spPr>
          <a:xfrm>
            <a:off x="4402667" y="29972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This editor took an hour, at a rounding error of what PowerPoint cost. Software keeps moving toward the single question it is built for.</a:t>
            </a:r>
          </a:p>
        </p:txBody>
      </p:sp>
      <p:sp>
        <p:nvSpPr>
          <p:cNvPr id="13" name="Shape"/>
          <p:cNvSpPr/>
          <p:nvPr/>
        </p:nvSpPr>
        <p:spPr>
          <a:xfrm>
            <a:off x="8094133" y="2413000"/>
            <a:ext cx="279400" cy="25400"/>
          </a:xfrm>
          <a:prstGeom prst="rect">
            <a:avLst/>
          </a:prstGeom>
          <a:solidFill>
            <a:schemeClr val="tx1">
              <a:alpha val="16000"/>
            </a:schemeClr>
          </a:solidFill>
          <a:ln>
            <a:noFill/>
          </a:ln>
        </p:spPr>
        <p:txBody>
          <a:bodyPr/>
          <a:lstStyle/>
          <a:p/>
        </p:txBody>
      </p:sp>
      <p:sp>
        <p:nvSpPr>
          <p:cNvPr id="14" name="Shape"/>
          <p:cNvSpPr txBox="1"/>
          <p:nvPr/>
        </p:nvSpPr>
        <p:spPr>
          <a:xfrm>
            <a:off x="8094133" y="25908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Agents run in parallel</a:t>
            </a:r>
          </a:p>
        </p:txBody>
      </p:sp>
      <p:sp>
        <p:nvSpPr>
          <p:cNvPr id="15" name="Shape"/>
          <p:cNvSpPr txBox="1"/>
          <p:nvPr/>
        </p:nvSpPr>
        <p:spPr>
          <a:xfrm>
            <a:off x="8094133" y="29972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Work divides across parallel agents: research, implementation, and a check that never saw the work it graded.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17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Conclusions</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What the programme turned on, </a:t>
            </a:r>
            <a:r>
              <a:rPr lang="en-US" sz="2500" b="1">
                <a:solidFill>
                  <a:schemeClr val="tx1"/>
                </a:solidFill>
                <a:latin typeface="+mj-lt"/>
                <a:cs typeface="+mj-lt"/>
              </a:rPr>
              <a:t xml:space="preserve">and what the tools now do about it</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06600"/>
            <a:ext cx="10769600" cy="203200"/>
          </a:xfrm>
          <a:prstGeom prst="rect">
            <a:avLst/>
          </a:prstGeom>
          <a:noFill/>
          <a:ln>
            <a:noFill/>
          </a:ln>
        </p:spPr>
        <p:txBody>
          <a:bodyPr lIns="0" tIns="0" rIns="0" bIns="0" rtlCol="0" anchor="t">
            <a:normAutofit/>
          </a:bodyPr>
          <a:lstStyle/>
          <a:p>
            <a:r>
              <a:rPr lang="en-US" sz="1000" b="1" spc="90" cap="all">
                <a:solidFill>
                  <a:schemeClr val="tx2">
                    <a:alpha val="66000"/>
                  </a:schemeClr>
                </a:solidFill>
                <a:latin typeface="+mn-lt"/>
                <a:cs typeface="+mn-lt"/>
              </a:rPr>
              <a:t xml:space="preserve">In short  </a:t>
            </a:r>
            <a:r>
              <a:rPr lang="en-US" sz="1100">
                <a:solidFill>
                  <a:schemeClr val="tx2"/>
                </a:solidFill>
                <a:latin typeface="+mn-lt"/>
                <a:cs typeface="+mn-lt"/>
              </a:rPr>
              <a:t xml:space="preserve">the decisions that set the RET programme were structural and were taken early; the tools take them earlier and against more candidates</a:t>
            </a:r>
          </a:p>
        </p:txBody>
      </p:sp>
      <p:sp>
        <p:nvSpPr>
          <p:cNvPr id="8" name="Shape"/>
          <p:cNvSpPr/>
          <p:nvPr/>
        </p:nvSpPr>
        <p:spPr>
          <a:xfrm>
            <a:off x="711200" y="2819400"/>
            <a:ext cx="279400" cy="25400"/>
          </a:xfrm>
          <a:prstGeom prst="rect">
            <a:avLst/>
          </a:prstGeom>
          <a:solidFill>
            <a:schemeClr val="tx1">
              <a:alpha val="16000"/>
            </a:schemeClr>
          </a:solidFill>
          <a:ln>
            <a:noFill/>
          </a:ln>
        </p:spPr>
        <p:txBody>
          <a:bodyPr/>
          <a:lstStyle/>
          <a:p/>
        </p:txBody>
      </p:sp>
      <p:sp>
        <p:nvSpPr>
          <p:cNvPr id="9" name="Shape"/>
          <p:cNvSpPr txBox="1"/>
          <p:nvPr/>
        </p:nvSpPr>
        <p:spPr>
          <a:xfrm>
            <a:off x="711200" y="29972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From Task 1</a:t>
            </a:r>
          </a:p>
        </p:txBody>
      </p:sp>
      <p:sp>
        <p:nvSpPr>
          <p:cNvPr id="10" name="Shape"/>
          <p:cNvSpPr txBox="1"/>
          <p:nvPr/>
        </p:nvSpPr>
        <p:spPr>
          <a:xfrm>
            <a:off x="711200" y="34036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RET turned on three decisions made before any compound: which mutants, where the linker leaves, and what sets exposure.</a:t>
            </a:r>
          </a:p>
        </p:txBody>
      </p:sp>
      <p:sp>
        <p:nvSpPr>
          <p:cNvPr id="11" name="Shape"/>
          <p:cNvSpPr/>
          <p:nvPr/>
        </p:nvSpPr>
        <p:spPr>
          <a:xfrm>
            <a:off x="4402667" y="2819400"/>
            <a:ext cx="279400" cy="25400"/>
          </a:xfrm>
          <a:prstGeom prst="rect">
            <a:avLst/>
          </a:prstGeom>
          <a:solidFill>
            <a:schemeClr val="tx1">
              <a:alpha val="16000"/>
            </a:schemeClr>
          </a:solidFill>
          <a:ln>
            <a:noFill/>
          </a:ln>
        </p:spPr>
        <p:txBody>
          <a:bodyPr/>
          <a:lstStyle/>
          <a:p/>
        </p:txBody>
      </p:sp>
      <p:sp>
        <p:nvSpPr>
          <p:cNvPr id="12" name="Shape"/>
          <p:cNvSpPr txBox="1"/>
          <p:nvPr/>
        </p:nvSpPr>
        <p:spPr>
          <a:xfrm>
            <a:off x="4402667" y="29972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tx2">
                    <a:alpha val="66000"/>
                  </a:schemeClr>
                </a:solidFill>
                <a:latin typeface="+mn-lt"/>
                <a:cs typeface="+mn-lt"/>
              </a:rPr>
              <a:t xml:space="preserve">From Task 2</a:t>
            </a:r>
          </a:p>
        </p:txBody>
      </p:sp>
      <p:sp>
        <p:nvSpPr>
          <p:cNvPr id="13" name="Shape"/>
          <p:cNvSpPr txBox="1"/>
          <p:nvPr/>
        </p:nvSpPr>
        <p:spPr>
          <a:xfrm>
            <a:off x="4402667" y="34036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Each is now a tool that runs on public structures and public data, before chemistry is committed.</a:t>
            </a:r>
          </a:p>
        </p:txBody>
      </p:sp>
      <p:sp>
        <p:nvSpPr>
          <p:cNvPr id="14" name="Shape"/>
          <p:cNvSpPr/>
          <p:nvPr/>
        </p:nvSpPr>
        <p:spPr>
          <a:xfrm>
            <a:off x="8094133" y="2819400"/>
            <a:ext cx="279400" cy="25400"/>
          </a:xfrm>
          <a:prstGeom prst="rect">
            <a:avLst/>
          </a:prstGeom>
          <a:solidFill>
            <a:schemeClr val="accent1"/>
          </a:solidFill>
          <a:ln>
            <a:noFill/>
          </a:ln>
        </p:spPr>
        <p:txBody>
          <a:bodyPr/>
          <a:lstStyle/>
          <a:p/>
        </p:txBody>
      </p:sp>
      <p:sp>
        <p:nvSpPr>
          <p:cNvPr id="15" name="Shape"/>
          <p:cNvSpPr txBox="1"/>
          <p:nvPr/>
        </p:nvSpPr>
        <p:spPr>
          <a:xfrm>
            <a:off x="8094133" y="2997200"/>
            <a:ext cx="3386667" cy="330200"/>
          </a:xfrm>
          <a:prstGeom prst="rect">
            <a:avLst/>
          </a:prstGeom>
          <a:noFill/>
          <a:ln>
            <a:noFill/>
          </a:ln>
        </p:spPr>
        <p:txBody>
          <a:bodyPr lIns="0" tIns="0" rIns="0" bIns="0" rtlCol="0" anchor="t">
            <a:normAutofit/>
          </a:bodyPr>
          <a:lstStyle/>
          <a:p>
            <a:pPr>
              <a:lnSpc>
                <a:spcPct val="125000"/>
              </a:lnSpc>
            </a:pPr>
            <a:r>
              <a:rPr lang="en-US" sz="900" b="1" spc="100" cap="all">
                <a:solidFill>
                  <a:schemeClr val="accent1"/>
                </a:solidFill>
                <a:latin typeface="+mn-lt"/>
                <a:cs typeface="+mn-lt"/>
              </a:rPr>
              <a:t xml:space="preserve">Still open</a:t>
            </a:r>
          </a:p>
        </p:txBody>
      </p:sp>
      <p:sp>
        <p:nvSpPr>
          <p:cNvPr id="16" name="Shape"/>
          <p:cNvSpPr txBox="1"/>
          <p:nvPr/>
        </p:nvSpPr>
        <p:spPr>
          <a:xfrm>
            <a:off x="8094133" y="3403600"/>
            <a:ext cx="3386667" cy="1905000"/>
          </a:xfrm>
          <a:prstGeom prst="rect">
            <a:avLst/>
          </a:prstGeom>
          <a:noFill/>
          <a:ln>
            <a:noFill/>
          </a:ln>
        </p:spPr>
        <p:txBody>
          <a:bodyPr lIns="0" tIns="0" rIns="0" bIns="0" rtlCol="0" anchor="t">
            <a:normAutofit/>
          </a:bodyPr>
          <a:lstStyle/>
          <a:p>
            <a:pPr>
              <a:lnSpc>
                <a:spcPct val="150000"/>
              </a:lnSpc>
            </a:pPr>
            <a:r>
              <a:rPr lang="en-US" sz="1500">
                <a:solidFill>
                  <a:schemeClr val="tx1"/>
                </a:solidFill>
                <a:latin typeface="+mn-lt"/>
                <a:cs typeface="+mn-lt"/>
              </a:rPr>
              <a:t xml:space="preserve">No pair has been run end to end, and the ligase docking benchmark has not yet produced a near-native pose.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18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Supplemental — SMARCA2</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A second degrader programme where selectivity had to come from </a:t>
            </a:r>
            <a:r>
              <a:rPr lang="en-US" sz="2500" b="1">
                <a:solidFill>
                  <a:schemeClr val="tx1"/>
                </a:solidFill>
                <a:latin typeface="+mj-lt"/>
                <a:cs typeface="+mj-lt"/>
              </a:rPr>
              <a:t xml:space="preserve">the complex, not the warhead</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57400"/>
            <a:ext cx="6350000" cy="95885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The SMARCA2 and SMARCA4 bromodomain sites are nearly identical, so a selective binder was not available. Synthetic lethality in SMARCA4-deficient cancers makes the distinction essential.</a:t>
            </a:r>
          </a:p>
        </p:txBody>
      </p:sp>
      <p:sp>
        <p:nvSpPr>
          <p:cNvPr id="8" name="Shape"/>
          <p:cNvSpPr txBox="1"/>
          <p:nvPr/>
        </p:nvSpPr>
        <p:spPr>
          <a:xfrm>
            <a:off x="711200" y="3143250"/>
            <a:ext cx="6350000" cy="958850"/>
          </a:xfrm>
          <a:prstGeom prst="rect">
            <a:avLst/>
          </a:prstGeom>
          <a:noFill/>
          <a:ln>
            <a:noFill/>
          </a:ln>
        </p:spPr>
        <p:txBody>
          <a:bodyPr lIns="0" tIns="0" rIns="0" bIns="0" rtlCol="0" anchor="t">
            <a:normAutofit/>
          </a:bodyPr>
          <a:lstStyle/>
          <a:p>
            <a:pPr>
              <a:lnSpc>
                <a:spcPct val="150000"/>
              </a:lnSpc>
            </a:pPr>
            <a:r>
              <a:rPr lang="en-US" sz="1500">
                <a:solidFill>
                  <a:schemeClr val="tx2"/>
                </a:solidFill>
                <a:latin typeface="+mn-lt"/>
                <a:cs typeface="+mn-lt"/>
              </a:rPr>
              <a:t xml:space="preserve">Models were built by mutating both surfaces to alanine, aligning the sites within linker reach, filtering on HDX signal, then restoring side chains and discarding clashes.</a:t>
            </a:r>
          </a:p>
        </p:txBody>
      </p:sp>
      <p:pic>
        <p:nvPicPr>
          <p:cNvPr id="9" name="sm2crbn" descr="SMARCA2 bromodomain in complex with cereblon"/>
          <p:cNvPicPr>
            <a:picLocks noChangeAspect="1"/>
          </p:cNvPicPr>
          <p:nvPr/>
        </p:nvPicPr>
        <p:blipFill>
          <a:blip r:embed="rId2"/>
          <a:stretch>
            <a:fillRect/>
          </a:stretch>
        </p:blipFill>
        <p:spPr>
          <a:xfrm>
            <a:off x="7848600" y="2006600"/>
            <a:ext cx="3581400" cy="3483102"/>
          </a:xfrm>
          <a:prstGeom prst="rect">
            <a:avLst/>
          </a:prstGeom>
        </p:spPr>
      </p:pic>
      <p:sp>
        <p:nvSpPr>
          <p:cNvPr id="10" name="Shape"/>
          <p:cNvSpPr txBox="1"/>
          <p:nvPr/>
        </p:nvSpPr>
        <p:spPr>
          <a:xfrm>
            <a:off x="7848600" y="5588000"/>
            <a:ext cx="35814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SMARCA2 bromodomain with cereblon</a:t>
            </a:r>
          </a:p>
        </p:txBody>
      </p:sp>
      <p:sp>
        <p:nvSpPr>
          <p:cNvPr id="11" name="Shape"/>
          <p:cNvSpPr txBox="1"/>
          <p:nvPr/>
        </p:nvSpPr>
        <p:spPr>
          <a:xfrm>
            <a:off x="711200" y="6477000"/>
            <a:ext cx="10769600" cy="304800"/>
          </a:xfrm>
          <a:prstGeom prst="rect">
            <a:avLst/>
          </a:prstGeom>
          <a:noFill/>
          <a:ln>
            <a:noFill/>
          </a:ln>
        </p:spPr>
        <p:txBody>
          <a:bodyPr lIns="0" tIns="0" rIns="0" bIns="0" rtlCol="0" anchor="t">
            <a:noAutofit/>
          </a:bodyPr>
          <a:lstStyle/>
          <a:p>
            <a:pPr>
              <a:lnSpc>
                <a:spcPct val="130000"/>
              </a:lnSpc>
            </a:pPr>
            <a:r>
              <a:rPr lang="en-US" sz="850">
                <a:solidFill>
                  <a:schemeClr val="tx2">
                    <a:alpha val="66000"/>
                  </a:schemeClr>
                </a:solidFill>
                <a:latin typeface="+mn-lt"/>
                <a:cs typeface="+mn-lt"/>
              </a:rPr>
              <a:t xml:space="preserve">Nasveschuk, Lazarski, Park et al.  WO2023244764A1  ·  ternary complex models: Hongwei Huang, Andy Good  ·  HDX: Scott Eron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19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Supplemental — SMARCA2</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Choosing between models by the conformations they imply: </a:t>
            </a:r>
            <a:r>
              <a:rPr lang="en-US" sz="2500" b="1">
                <a:solidFill>
                  <a:schemeClr val="tx1"/>
                </a:solidFill>
                <a:latin typeface="+mj-lt"/>
                <a:cs typeface="+mj-lt"/>
              </a:rPr>
              <a:t xml:space="preserve">prior SAR decided it</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57400"/>
            <a:ext cx="5080000" cy="901700"/>
          </a:xfrm>
          <a:prstGeom prst="rect">
            <a:avLst/>
          </a:prstGeom>
          <a:noFill/>
          <a:ln>
            <a:noFill/>
          </a:ln>
        </p:spPr>
        <p:txBody>
          <a:bodyPr lIns="0" tIns="0" rIns="0" bIns="0" rtlCol="0" anchor="t">
            <a:normAutofit/>
          </a:bodyPr>
          <a:lstStyle/>
          <a:p>
            <a:pPr>
              <a:lnSpc>
                <a:spcPct val="150000"/>
              </a:lnSpc>
            </a:pPr>
            <a:r>
              <a:rPr lang="en-US" sz="1400">
                <a:solidFill>
                  <a:schemeClr val="tx2"/>
                </a:solidFill>
                <a:latin typeface="+mn-lt"/>
                <a:cs typeface="+mn-lt"/>
              </a:rPr>
              <a:t xml:space="preserve">Models were aligned first on the target and then on the ligase, and every point where the proposed bioactive conformations diverged was catalogued.</a:t>
            </a:r>
          </a:p>
        </p:txBody>
      </p:sp>
      <p:sp>
        <p:nvSpPr>
          <p:cNvPr id="8" name="Shape"/>
          <p:cNvSpPr txBox="1"/>
          <p:nvPr/>
        </p:nvSpPr>
        <p:spPr>
          <a:xfrm>
            <a:off x="711200" y="3086100"/>
            <a:ext cx="5080000" cy="635000"/>
          </a:xfrm>
          <a:prstGeom prst="rect">
            <a:avLst/>
          </a:prstGeom>
          <a:noFill/>
          <a:ln>
            <a:noFill/>
          </a:ln>
        </p:spPr>
        <p:txBody>
          <a:bodyPr lIns="0" tIns="0" rIns="0" bIns="0" rtlCol="0" anchor="t">
            <a:normAutofit/>
          </a:bodyPr>
          <a:lstStyle/>
          <a:p>
            <a:pPr>
              <a:lnSpc>
                <a:spcPct val="150000"/>
              </a:lnSpc>
            </a:pPr>
            <a:r>
              <a:rPr lang="en-US" sz="1400">
                <a:solidFill>
                  <a:schemeClr val="tx2"/>
                </a:solidFill>
                <a:latin typeface="+mn-lt"/>
                <a:cs typeface="+mn-lt"/>
              </a:rPr>
              <a:t xml:space="preserve">Three compounds built to favour or block the extended conformation agreed with model 1689.</a:t>
            </a:r>
          </a:p>
        </p:txBody>
      </p:sp>
      <p:graphicFrame>
        <p:nvGraphicFramePr>
          <p:cNvPr id="9" name="Data table"/>
          <p:cNvGraphicFramePr>
            <a:graphicFrameLocks noGrp="1"/>
          </p:cNvGraphicFramePr>
          <p:nvPr/>
        </p:nvGraphicFramePr>
        <p:xfrm>
          <a:off x="711200" y="4038600"/>
          <a:ext cx="5080000" cy="1422400"/>
        </p:xfrm>
        <a:graphic>
          <a:graphicData uri="http://schemas.openxmlformats.org/drawingml/2006/table">
            <a:tbl>
              <a:tblPr>
                <a:tableStyleId>{5C22544A-7EE6-4342-B048-85BDC9FD1C3A}</a:tableStyleId>
              </a:tblPr>
              <a:tblGrid>
                <a:gridCol w="838200"/>
                <a:gridCol w="2616200"/>
                <a:gridCol w="1625600"/>
              </a:tblGrid>
              <a:tr h="431800">
                <a:tc>
                  <a:txBody>
                    <a:bodyPr lIns="88900" tIns="25400" rIns="88900" bIns="63500" rtlCol="0" anchor="b">
                      <a:noAutofit/>
                    </a:bodyPr>
                    <a:lstStyle/>
                    <a:p>
                      <a:pPr algn="l">
                        <a:lnSpc>
                          <a:spcPct val="120000"/>
                        </a:lnSpc>
                      </a:pPr>
                      <a:r>
                        <a:rPr lang="en-US" sz="850" b="1" spc="70" cap="all">
                          <a:solidFill>
                            <a:schemeClr val="tx2">
                              <a:alpha val="66000"/>
                            </a:schemeClr>
                          </a:solidFill>
                          <a:latin typeface="+mn-lt"/>
                          <a:cs typeface="+mn-lt"/>
                        </a:rPr>
                        <a:t xml:space="preserve">Cpd</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What it tests</a:t>
                      </a:r>
                    </a:p>
                  </a:txBody>
                  <a:tcPr marL="88900" marR="88900" marT="25400" marB="63500" anchor="b"/>
                </a:tc>
                <a:tc>
                  <a:txBody>
                    <a:bodyPr lIns="88900" tIns="25400" rIns="88900" bIns="63500" rtlCol="0" anchor="b">
                      <a:noAutofit/>
                    </a:bodyPr>
                    <a:lstStyle/>
                    <a:p>
                      <a:pPr algn="ctr">
                        <a:lnSpc>
                          <a:spcPct val="120000"/>
                        </a:lnSpc>
                      </a:pPr>
                      <a:r>
                        <a:rPr lang="en-US" sz="850" b="1" spc="70" cap="all">
                          <a:solidFill>
                            <a:schemeClr val="tx2">
                              <a:alpha val="66000"/>
                            </a:schemeClr>
                          </a:solidFill>
                          <a:latin typeface="+mn-lt"/>
                          <a:cs typeface="+mn-lt"/>
                        </a:rPr>
                        <a:t xml:space="preserve">SMARCA2 DC₅₀ / Emax</a:t>
                      </a:r>
                    </a:p>
                  </a:txBody>
                  <a:tcPr marL="88900" marR="88900" marT="25400" marB="63500" anchor="b"/>
                </a:tc>
              </a:tr>
              <a:tr h="3302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001</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Steric clash favours extended B</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accent1"/>
                          </a:solidFill>
                          <a:latin typeface="+mn-lt"/>
                          <a:cs typeface="+mn-lt"/>
                        </a:rPr>
                        <a:t xml:space="preserve">30 nM / 29%</a:t>
                      </a:r>
                    </a:p>
                  </a:txBody>
                  <a:tcPr marL="88900" marR="88900" marT="25400" marB="25400" anchor="ctr"/>
                </a:tc>
              </a:tr>
              <a:tr h="3302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002</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Steric clash disfavours extended B</a:t>
                      </a:r>
                    </a:p>
                  </a:txBody>
                  <a:tcPr marL="88900" marR="88900" marT="25400" marB="25400" anchor="ctr">
                    <a:solidFill>
                      <a:schemeClr val="tx1">
                        <a:alpha val="6000"/>
                      </a:schemeClr>
                    </a:solidFill>
                  </a:tcP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915 nM / 43%</a:t>
                      </a:r>
                    </a:p>
                  </a:txBody>
                  <a:tcPr marL="88900" marR="88900" marT="25400" marB="25400" anchor="ctr">
                    <a:solidFill>
                      <a:schemeClr val="tx1">
                        <a:alpha val="6000"/>
                      </a:schemeClr>
                    </a:solidFill>
                  </a:tcPr>
                </a:tc>
              </a:tr>
              <a:tr h="330200">
                <a:tc>
                  <a:txBody>
                    <a:bodyPr lIns="88900" tIns="25400" rIns="88900" bIns="25400" rtlCol="0" anchor="ctr">
                      <a:noAutofit/>
                    </a:bodyPr>
                    <a:lstStyle/>
                    <a:p>
                      <a:pPr algn="l">
                        <a:lnSpc>
                          <a:spcPct val="120000"/>
                        </a:lnSpc>
                      </a:pPr>
                      <a:r>
                        <a:rPr lang="en-US" sz="1050" b="1">
                          <a:solidFill>
                            <a:schemeClr val="tx1"/>
                          </a:solidFill>
                          <a:latin typeface="+mn-lt"/>
                          <a:cs typeface="+mn-lt"/>
                        </a:rPr>
                        <a:t xml:space="preserve">003</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tx2"/>
                          </a:solidFill>
                          <a:latin typeface="+mn-lt"/>
                          <a:cs typeface="+mn-lt"/>
                        </a:rPr>
                        <a:t xml:space="preserve">Electron repulsion favours extended B</a:t>
                      </a:r>
                    </a:p>
                  </a:txBody>
                  <a:tcPr marL="88900" marR="88900" marT="25400" marB="25400" anchor="ctr"/>
                </a:tc>
                <a:tc>
                  <a:txBody>
                    <a:bodyPr lIns="88900" tIns="25400" rIns="88900" bIns="25400" rtlCol="0" anchor="ctr">
                      <a:noAutofit/>
                    </a:bodyPr>
                    <a:lstStyle/>
                    <a:p>
                      <a:pPr algn="ctr">
                        <a:lnSpc>
                          <a:spcPct val="120000"/>
                        </a:lnSpc>
                      </a:pPr>
                      <a:r>
                        <a:rPr lang="en-US" sz="1050" b="0">
                          <a:solidFill>
                            <a:schemeClr val="accent1"/>
                          </a:solidFill>
                          <a:latin typeface="+mn-lt"/>
                          <a:cs typeface="+mn-lt"/>
                        </a:rPr>
                        <a:t xml:space="preserve">45 nM / 13%</a:t>
                      </a:r>
                    </a:p>
                  </a:txBody>
                  <a:tcPr marL="88900" marR="88900" marT="25400" marB="25400" anchor="ctr"/>
                </a:tc>
              </a:tr>
            </a:tbl>
          </a:graphicData>
        </a:graphic>
      </p:graphicFrame>
      <p:sp>
        <p:nvSpPr>
          <p:cNvPr id="10" name="Shape"/>
          <p:cNvSpPr/>
          <p:nvPr/>
        </p:nvSpPr>
        <p:spPr>
          <a:xfrm>
            <a:off x="711200" y="4470400"/>
            <a:ext cx="5080000" cy="12700"/>
          </a:xfrm>
          <a:prstGeom prst="rect">
            <a:avLst/>
          </a:prstGeom>
          <a:solidFill>
            <a:schemeClr val="tx1">
              <a:alpha val="16000"/>
            </a:schemeClr>
          </a:solidFill>
          <a:ln>
            <a:noFill/>
          </a:ln>
        </p:spPr>
        <p:txBody>
          <a:bodyPr/>
          <a:lstStyle/>
          <a:p/>
        </p:txBody>
      </p:sp>
      <p:pic>
        <p:nvPicPr>
          <p:cNvPr id="11" name="model1689" descr="SMARCA2–cereblon ternary complex model 1689"/>
          <p:cNvPicPr>
            <a:picLocks noChangeAspect="1"/>
          </p:cNvPicPr>
          <p:nvPr/>
        </p:nvPicPr>
        <p:blipFill>
          <a:blip r:embed="rId2"/>
          <a:stretch>
            <a:fillRect/>
          </a:stretch>
        </p:blipFill>
        <p:spPr>
          <a:xfrm>
            <a:off x="6096000" y="2006600"/>
            <a:ext cx="2712466" cy="2641600"/>
          </a:xfrm>
          <a:prstGeom prst="rect">
            <a:avLst/>
          </a:prstGeom>
        </p:spPr>
      </p:pic>
      <p:sp>
        <p:nvSpPr>
          <p:cNvPr id="12" name="Shape"/>
          <p:cNvSpPr txBox="1"/>
          <p:nvPr/>
        </p:nvSpPr>
        <p:spPr>
          <a:xfrm>
            <a:off x="6096000" y="4775200"/>
            <a:ext cx="26924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Model 1689 — the differential Z-helix sits in the interface</a:t>
            </a:r>
          </a:p>
        </p:txBody>
      </p:sp>
      <p:pic>
        <p:nvPicPr>
          <p:cNvPr id="13" name="model2546" descr="SMARCA2–cereblon ternary complex model 254601"/>
          <p:cNvPicPr>
            <a:picLocks noChangeAspect="1"/>
          </p:cNvPicPr>
          <p:nvPr/>
        </p:nvPicPr>
        <p:blipFill>
          <a:blip r:embed="rId3"/>
          <a:stretch>
            <a:fillRect/>
          </a:stretch>
        </p:blipFill>
        <p:spPr>
          <a:xfrm>
            <a:off x="9194800" y="2006600"/>
            <a:ext cx="2191512" cy="2641600"/>
          </a:xfrm>
          <a:prstGeom prst="rect">
            <a:avLst/>
          </a:prstGeom>
        </p:spPr>
      </p:pic>
      <p:sp>
        <p:nvSpPr>
          <p:cNvPr id="14" name="Shape"/>
          <p:cNvSpPr txBox="1"/>
          <p:nvPr/>
        </p:nvSpPr>
        <p:spPr>
          <a:xfrm>
            <a:off x="9194800" y="4775200"/>
            <a:ext cx="22352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Model 254601</a:t>
            </a:r>
          </a:p>
        </p:txBody>
      </p:sp>
      <p:sp>
        <p:nvSpPr>
          <p:cNvPr id="15" name="Shape"/>
          <p:cNvSpPr txBox="1"/>
          <p:nvPr/>
        </p:nvSpPr>
        <p:spPr>
          <a:xfrm>
            <a:off x="711200" y="6477000"/>
            <a:ext cx="10769600" cy="304800"/>
          </a:xfrm>
          <a:prstGeom prst="rect">
            <a:avLst/>
          </a:prstGeom>
          <a:noFill/>
          <a:ln>
            <a:noFill/>
          </a:ln>
        </p:spPr>
        <p:txBody>
          <a:bodyPr lIns="0" tIns="0" rIns="0" bIns="0" rtlCol="0" anchor="t">
            <a:noAutofit/>
          </a:bodyPr>
          <a:lstStyle/>
          <a:p>
            <a:pPr>
              <a:lnSpc>
                <a:spcPct val="130000"/>
              </a:lnSpc>
            </a:pPr>
            <a:r>
              <a:rPr lang="en-US" sz="850">
                <a:solidFill>
                  <a:schemeClr val="tx2">
                    <a:alpha val="66000"/>
                  </a:schemeClr>
                </a:solidFill>
                <a:latin typeface="+mn-lt"/>
                <a:cs typeface="+mn-lt"/>
              </a:rPr>
              <a:t xml:space="preserve">Nasveschuk, Lazarski, Park et al.  WO2023244764A1  ·  ternary complex models: Hongwei Huang, Andy Good  ·  HDX: Scott Eron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E151B"/>
        </a:solidFill>
        <a:effectLst/>
      </p:bgPr>
    </p:bg>
    <p:spTree>
      <p:nvGrpSpPr>
        <p:cNvPr id="1" name=""/>
        <p:cNvGrpSpPr/>
        <p:nvPr/>
      </p:nvGrpSpPr>
      <p:grpSpPr>
        <a:xfrm>
          <a:off x="0" y="0"/>
          <a:ext cx="0" cy="0"/>
          <a:chOff x="0" y="0"/>
          <a:chExt cx="0" cy="0"/>
        </a:xfrm>
      </p:grpSpPr>
      <p:sp>
        <p:nvSpPr>
          <p:cNvPr id="2" name="Shape"/>
          <p:cNvSpPr txBox="1"/>
          <p:nvPr/>
        </p:nvSpPr>
        <p:spPr>
          <a:xfrm>
            <a:off x="711200" y="254000"/>
            <a:ext cx="5334000" cy="177800"/>
          </a:xfrm>
          <a:prstGeom prst="rect">
            <a:avLst/>
          </a:prstGeom>
          <a:noFill/>
          <a:ln>
            <a:noFill/>
          </a:ln>
        </p:spPr>
        <p:txBody>
          <a:bodyPr lIns="0" tIns="0" rIns="0" bIns="0" rtlCol="0" anchor="t">
            <a:noAutofit/>
          </a:bodyPr>
          <a:lstStyle/>
          <a:p>
            <a:r>
              <a:rPr lang="en-US" sz="900" spc="100" cap="all">
                <a:solidFill>
                  <a:schemeClr val="tx2">
                    <a:alpha val="66000"/>
                  </a:schemeClr>
                </a:solidFill>
                <a:latin typeface="+mn-lt"/>
                <a:cs typeface="+mn-lt"/>
              </a:rPr>
              <a:t xml:space="preserve">Lazarski — Proxima Interview</a:t>
            </a:r>
          </a:p>
        </p:txBody>
      </p:sp>
      <p:sp>
        <p:nvSpPr>
          <p:cNvPr id="3" name="Shape"/>
          <p:cNvSpPr txBox="1"/>
          <p:nvPr/>
        </p:nvSpPr>
        <p:spPr>
          <a:xfrm>
            <a:off x="9956800" y="254000"/>
            <a:ext cx="1524000" cy="177800"/>
          </a:xfrm>
          <a:prstGeom prst="rect">
            <a:avLst/>
          </a:prstGeom>
          <a:noFill/>
          <a:ln>
            <a:noFill/>
          </a:ln>
        </p:spPr>
        <p:txBody>
          <a:bodyPr lIns="0" tIns="0" rIns="0" bIns="0" rtlCol="0" anchor="t">
            <a:noAutofit/>
          </a:bodyPr>
          <a:lstStyle/>
          <a:p>
            <a:pPr algn="r"/>
            <a:r>
              <a:rPr lang="en-US" sz="900" spc="60">
                <a:solidFill>
                  <a:schemeClr val="tx2">
                    <a:alpha val="66000"/>
                  </a:schemeClr>
                </a:solidFill>
                <a:latin typeface="+mn-lt"/>
                <a:cs typeface="+mn-lt"/>
              </a:rPr>
              <a:t xml:space="preserve">20 / 20</a:t>
            </a:r>
          </a:p>
        </p:txBody>
      </p:sp>
      <p:sp>
        <p:nvSpPr>
          <p:cNvPr id="4" name="Shape"/>
          <p:cNvSpPr txBox="1"/>
          <p:nvPr/>
        </p:nvSpPr>
        <p:spPr>
          <a:xfrm>
            <a:off x="711200" y="660400"/>
            <a:ext cx="8890000" cy="203200"/>
          </a:xfrm>
          <a:prstGeom prst="rect">
            <a:avLst/>
          </a:prstGeom>
          <a:noFill/>
          <a:ln>
            <a:noFill/>
          </a:ln>
        </p:spPr>
        <p:txBody>
          <a:bodyPr lIns="0" tIns="0" rIns="0" bIns="0" rtlCol="0" anchor="t">
            <a:noAutofit/>
          </a:bodyPr>
          <a:lstStyle/>
          <a:p>
            <a:r>
              <a:rPr lang="en-US" sz="1000" b="1" spc="120" cap="all">
                <a:solidFill>
                  <a:schemeClr val="accent1"/>
                </a:solidFill>
                <a:latin typeface="+mn-lt"/>
                <a:cs typeface="+mn-lt"/>
              </a:rPr>
              <a:t xml:space="preserve">Supplemental — SMARCA2</a:t>
            </a:r>
          </a:p>
        </p:txBody>
      </p:sp>
      <p:sp>
        <p:nvSpPr>
          <p:cNvPr id="5" name="Shape"/>
          <p:cNvSpPr txBox="1"/>
          <p:nvPr/>
        </p:nvSpPr>
        <p:spPr>
          <a:xfrm>
            <a:off x="711200" y="939800"/>
            <a:ext cx="10769600" cy="711200"/>
          </a:xfrm>
          <a:prstGeom prst="rect">
            <a:avLst/>
          </a:prstGeom>
          <a:noFill/>
          <a:ln>
            <a:noFill/>
          </a:ln>
        </p:spPr>
        <p:txBody>
          <a:bodyPr lIns="0" tIns="0" rIns="0" bIns="0" rtlCol="0" anchor="t">
            <a:normAutofit/>
          </a:bodyPr>
          <a:lstStyle/>
          <a:p>
            <a:pPr>
              <a:lnSpc>
                <a:spcPct val="120000"/>
              </a:lnSpc>
            </a:pPr>
            <a:r>
              <a:rPr lang="en-US" sz="2500" b="0">
                <a:solidFill>
                  <a:schemeClr val="tx2"/>
                </a:solidFill>
                <a:latin typeface="+mj-lt"/>
                <a:cs typeface="+mj-lt"/>
              </a:rPr>
              <a:t xml:space="preserve">The model used as a design hypothesis: </a:t>
            </a:r>
            <a:r>
              <a:rPr lang="en-US" sz="2500" b="1">
                <a:solidFill>
                  <a:schemeClr val="tx1"/>
                </a:solidFill>
                <a:latin typeface="+mj-lt"/>
                <a:cs typeface="+mj-lt"/>
              </a:rPr>
              <a:t xml:space="preserve">a spirocycle that pre-organises the linker</a:t>
            </a:r>
          </a:p>
        </p:txBody>
      </p:sp>
      <p:sp>
        <p:nvSpPr>
          <p:cNvPr id="6" name="Shape"/>
          <p:cNvSpPr/>
          <p:nvPr/>
        </p:nvSpPr>
        <p:spPr>
          <a:xfrm>
            <a:off x="711200" y="1752600"/>
            <a:ext cx="10769600" cy="12700"/>
          </a:xfrm>
          <a:prstGeom prst="rect">
            <a:avLst/>
          </a:prstGeom>
          <a:solidFill>
            <a:schemeClr val="tx1">
              <a:alpha val="16000"/>
            </a:schemeClr>
          </a:solidFill>
          <a:ln>
            <a:noFill/>
          </a:ln>
        </p:spPr>
        <p:txBody>
          <a:bodyPr/>
          <a:lstStyle/>
          <a:p/>
        </p:txBody>
      </p:sp>
      <p:sp>
        <p:nvSpPr>
          <p:cNvPr id="7" name="Shape"/>
          <p:cNvSpPr txBox="1"/>
          <p:nvPr/>
        </p:nvSpPr>
        <p:spPr>
          <a:xfrm>
            <a:off x="711200" y="2057400"/>
            <a:ext cx="10769600" cy="368300"/>
          </a:xfrm>
          <a:prstGeom prst="rect">
            <a:avLst/>
          </a:prstGeom>
          <a:noFill/>
          <a:ln>
            <a:noFill/>
          </a:ln>
        </p:spPr>
        <p:txBody>
          <a:bodyPr lIns="0" tIns="0" rIns="0" bIns="0" rtlCol="0" anchor="t">
            <a:normAutofit/>
          </a:bodyPr>
          <a:lstStyle/>
          <a:p>
            <a:pPr>
              <a:lnSpc>
                <a:spcPct val="150000"/>
              </a:lnSpc>
            </a:pPr>
            <a:r>
              <a:rPr lang="en-US" sz="1400">
                <a:solidFill>
                  <a:schemeClr val="tx2"/>
                </a:solidFill>
                <a:latin typeface="+mn-lt"/>
                <a:cs typeface="+mn-lt"/>
              </a:rPr>
              <a:t xml:space="preserve">A 6,6-spirocycle was proposed to hold the linker in the modelled conformation without touching either binding site.</a:t>
            </a:r>
          </a:p>
        </p:txBody>
      </p:sp>
      <p:sp>
        <p:nvSpPr>
          <p:cNvPr id="8" name="Shape"/>
          <p:cNvSpPr txBox="1"/>
          <p:nvPr/>
        </p:nvSpPr>
        <p:spPr>
          <a:xfrm>
            <a:off x="711200" y="2552700"/>
            <a:ext cx="10769600" cy="368300"/>
          </a:xfrm>
          <a:prstGeom prst="rect">
            <a:avLst/>
          </a:prstGeom>
          <a:noFill/>
          <a:ln>
            <a:noFill/>
          </a:ln>
        </p:spPr>
        <p:txBody>
          <a:bodyPr lIns="0" tIns="0" rIns="0" bIns="0" rtlCol="0" anchor="t">
            <a:normAutofit/>
          </a:bodyPr>
          <a:lstStyle/>
          <a:p>
            <a:pPr>
              <a:lnSpc>
                <a:spcPct val="150000"/>
              </a:lnSpc>
            </a:pPr>
            <a:r>
              <a:rPr lang="en-US" sz="1400">
                <a:solidFill>
                  <a:schemeClr val="tx2"/>
                </a:solidFill>
                <a:latin typeface="+mn-lt"/>
                <a:cs typeface="+mn-lt"/>
              </a:rPr>
              <a:t xml:space="preserve">Compound 005 kept the potency, improved SMARCA4 selectivity, and cut clearance from 130 to 18 mL/min/kg.</a:t>
            </a:r>
          </a:p>
        </p:txBody>
      </p:sp>
      <p:pic>
        <p:nvPicPr>
          <p:cNvPr id="9" name="spiro004" descr="Acyclic ethyl ether linker in the SMARCA2–cereblon complex"/>
          <p:cNvPicPr>
            <a:picLocks noChangeAspect="1"/>
          </p:cNvPicPr>
          <p:nvPr/>
        </p:nvPicPr>
        <p:blipFill>
          <a:blip r:embed="rId2"/>
          <a:stretch>
            <a:fillRect/>
          </a:stretch>
        </p:blipFill>
        <p:spPr>
          <a:xfrm>
            <a:off x="711200" y="3200400"/>
            <a:ext cx="4839716" cy="2819400"/>
          </a:xfrm>
          <a:prstGeom prst="rect">
            <a:avLst/>
          </a:prstGeom>
        </p:spPr>
      </p:pic>
      <p:sp>
        <p:nvSpPr>
          <p:cNvPr id="10" name="Shape"/>
          <p:cNvSpPr txBox="1"/>
          <p:nvPr/>
        </p:nvSpPr>
        <p:spPr>
          <a:xfrm>
            <a:off x="711200" y="6146800"/>
            <a:ext cx="48260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004 — acyclic ethyl ether linker  ·  40 nM / 23%  ·  CL 130 mL/min/kg</a:t>
            </a:r>
          </a:p>
        </p:txBody>
      </p:sp>
      <p:pic>
        <p:nvPicPr>
          <p:cNvPr id="11" name="spiro005" descr="Rigid spirocyclic linker in the SMARCA2–cereblon complex"/>
          <p:cNvPicPr>
            <a:picLocks noChangeAspect="1"/>
          </p:cNvPicPr>
          <p:nvPr/>
        </p:nvPicPr>
        <p:blipFill>
          <a:blip r:embed="rId3"/>
          <a:stretch>
            <a:fillRect/>
          </a:stretch>
        </p:blipFill>
        <p:spPr>
          <a:xfrm>
            <a:off x="6604000" y="3200400"/>
            <a:ext cx="4645025" cy="2819400"/>
          </a:xfrm>
          <a:prstGeom prst="rect">
            <a:avLst/>
          </a:prstGeom>
        </p:spPr>
      </p:pic>
      <p:sp>
        <p:nvSpPr>
          <p:cNvPr id="12" name="Shape"/>
          <p:cNvSpPr txBox="1"/>
          <p:nvPr/>
        </p:nvSpPr>
        <p:spPr>
          <a:xfrm>
            <a:off x="6604000" y="6146800"/>
            <a:ext cx="4876800" cy="431800"/>
          </a:xfrm>
          <a:prstGeom prst="rect">
            <a:avLst/>
          </a:prstGeom>
          <a:noFill/>
          <a:ln>
            <a:noFill/>
          </a:ln>
        </p:spPr>
        <p:txBody>
          <a:bodyPr lIns="0" tIns="0" rIns="0" bIns="0" rtlCol="0" anchor="t">
            <a:noAutofit/>
          </a:bodyPr>
          <a:lstStyle/>
          <a:p>
            <a:pPr>
              <a:lnSpc>
                <a:spcPct val="135000"/>
              </a:lnSpc>
            </a:pPr>
            <a:r>
              <a:rPr lang="en-US" sz="950">
                <a:solidFill>
                  <a:schemeClr val="tx2">
                    <a:alpha val="66000"/>
                  </a:schemeClr>
                </a:solidFill>
                <a:latin typeface="+mn-lt"/>
                <a:cs typeface="+mn-lt"/>
              </a:rPr>
              <a:t xml:space="preserve">005 — rigid spirocyclic linker  ·  50 nM / 15%  ·  CL 18 mL/min/kg</a:t>
            </a:r>
          </a:p>
        </p:txBody>
      </p:sp>
    </p:spTree>
  </p:cSld>
  <p:clrMapOvr>
    <a:masterClrMapping/>
  </p:clrMapOvr>
</p:sld>
</file>

<file path=ppt/theme/theme1.xml><?xml version="1.0" encoding="utf-8"?>
<a:theme xmlns:a="http://schemas.openxmlformats.org/drawingml/2006/main" name="Proxima">
  <a:themeElements>
    <a:clrScheme name="Proxima">
      <a:dk1>
        <a:srgbClr val="E9EEF2"/>
      </a:dk1>
      <a:lt1>
        <a:srgbClr val="0E151B"/>
      </a:lt1>
      <a:dk2>
        <a:srgbClr val="A9B7C2"/>
      </a:dk2>
      <a:lt2>
        <a:srgbClr val="16202A"/>
      </a:lt2>
      <a:accent1>
        <a:srgbClr val="3FB8A0"/>
      </a:accent1>
      <a:accent2>
        <a:srgbClr val="6FA8E8"/>
      </a:accent2>
      <a:accent3>
        <a:srgbClr val="E0A33C"/>
      </a:accent3>
      <a:accent4>
        <a:srgbClr val="D1715E"/>
      </a:accent4>
      <a:accent5>
        <a:srgbClr val="A88CE0"/>
      </a:accent5>
      <a:accent6>
        <a:srgbClr val="8FBF63"/>
      </a:accent6>
      <a:hlink>
        <a:srgbClr val="6FA8E8"/>
      </a:hlink>
      <a:folHlink>
        <a:srgbClr val="A88CE0"/>
      </a:folHlink>
    </a:clrScheme>
    <a:fontScheme name="Proxima">
      <a:majorFont>
        <a:latin typeface="Inter" panose="020B0604020202020204" pitchFamily="34" charset="0"/>
        <a:ea typeface=""/>
        <a:cs typeface=""/>
      </a:majorFont>
      <a:minorFont>
        <a:latin typeface="Inter" panose="020B0604020202020204" pitchFamily="34" charset="0"/>
        <a:ea typeface=""/>
        <a:cs typeface=""/>
      </a:minorFont>
    </a:fontScheme>
    <a:fmtScheme name="Proxi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Custom Lazarski - Proxima Interview Slide Software</Application>
  <Slides>20</Slides>
  <Paragraphs>0</Paragraphs>
  <TitlesOfParts>
    <vt:vector size="20" baseType="lpstr">
      <vt:lpstr>Slide</vt:lpstr>
      <vt:lpstr>Slide</vt:lpstr>
      <vt:lpstr>Slide</vt:lpstr>
      <vt:lpstr>Slide</vt:lpstr>
      <vt:lpstr>Slide</vt:lpstr>
      <vt:lpstr>Slide</vt:lpstr>
      <vt:lpstr>Slide</vt:lpstr>
      <vt:lpstr>Slide</vt:lpstr>
      <vt:lpstr>Slide</vt:lpstr>
      <vt:lpstr>Slide</vt:lpstr>
      <vt:lpstr>Slide</vt:lpstr>
      <vt:lpstr>Slide</vt:lpstr>
      <vt:lpstr>Slide</vt:lpstr>
      <vt:lpstr>Slide</vt:lpstr>
      <vt:lpstr>Slide</vt:lpstr>
      <vt:lpstr>Slide</vt:lpstr>
      <vt:lpstr>Slide</vt:lpstr>
      <vt:lpstr>Slide</vt:lpstr>
      <vt:lpstr>Slide</vt:lpstr>
      <vt:lpstr>Slide</vt:lpstr>
    </vt:vector>
  </TitlesOfParts>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Lazarski — Proxima technical exercise</dc:title>
  <dc:creator>Custom Lazarski - Proxima Interview Slide Software</dc:creator>
  <cp:lastModifiedBy>Custom Lazarski - Proxima Interview Slide Software</cp:lastModifiedBy>
  <dcterms:created xsi:type="dcterms:W3CDTF">2026-10-28T22:11:56Z</dcterms:created>
  <dcterms:modified xsi:type="dcterms:W3CDTF">2026-10-28T22:11:56Z</dcterms:modified>
</cp:coreProperties>
</file>